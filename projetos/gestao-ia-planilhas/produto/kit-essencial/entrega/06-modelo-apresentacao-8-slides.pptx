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</c:v>
                </c:pt>
              </c:strCache>
            </c:strRef>
          </c:tx>
          <c:spPr>
            <a:solidFill>
              <a:srgbClr val="3B1F5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2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Abr</c:v>
                  </c:pt>
                  <c:pt idx="1">
                    <c:v>Mai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Ago</c:v>
                  </c:pt>
                  <c:pt idx="5">
                    <c:v>Set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109.8</c:v>
                </c:pt>
                <c:pt idx="1">
                  <c:v>118.3</c:v>
                </c:pt>
                <c:pt idx="2">
                  <c:v>121.9</c:v>
                </c:pt>
                <c:pt idx="3">
                  <c:v>115.7</c:v>
                </c:pt>
                <c:pt idx="4">
                  <c:v>124.6</c:v>
                </c:pt>
                <c:pt idx="5">
                  <c:v>131.2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F12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90"/>
        </c:scaling>
        <c:delete val="0"/>
        <c:axPos val="l"/>
        <c:majorGridlines>
          <c:spPr>
            <a:ln w="6350" cap="flat">
              <a:solidFill>
                <a:srgbClr val="E6DF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Conversão</c:v>
                </c:pt>
              </c:strCache>
            </c:strRef>
          </c:tx>
          <c:spPr>
            <a:solidFill>
              <a:srgbClr val="3B1F5E"/>
            </a:solidFill>
            <a:ln w="38100" cap="flat">
              <a:solidFill>
                <a:srgbClr val="3B1F5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3B1F5E"/>
              </a:solidFill>
              <a:ln w="9525" cap="flat">
                <a:solidFill>
                  <a:srgbClr val="3B1F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Abr</c:v>
                  </c:pt>
                  <c:pt idx="1">
                    <c:v>Mai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Ago</c:v>
                  </c:pt>
                  <c:pt idx="5">
                    <c:v>Set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3.9</c:v>
                </c:pt>
                <c:pt idx="1">
                  <c:v>4.6</c:v>
                </c:pt>
                <c:pt idx="2">
                  <c:v>4.2</c:v>
                </c:pt>
                <c:pt idx="3">
                  <c:v>3.7</c:v>
                </c:pt>
                <c:pt idx="4">
                  <c:v>4.9</c:v>
                </c:pt>
                <c:pt idx="5">
                  <c:v>4.4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Meta</c:v>
                </c:pt>
              </c:strCache>
            </c:strRef>
          </c:tx>
          <c:spPr>
            <a:solidFill>
              <a:srgbClr val="FFC83D"/>
            </a:solidFill>
            <a:ln w="38100" cap="flat">
              <a:solidFill>
                <a:srgbClr val="FFC8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FC83D"/>
              </a:solidFill>
              <a:ln w="9525" cap="flat">
                <a:solidFill>
                  <a:srgbClr val="FFC8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Abr</c:v>
                  </c:pt>
                  <c:pt idx="1">
                    <c:v>Mai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Ago</c:v>
                  </c:pt>
                  <c:pt idx="5">
                    <c:v>Set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3"/>
        </c:scaling>
        <c:delete val="0"/>
        <c:axPos val="l"/>
        <c:majorGridlines>
          <c:spPr>
            <a:ln w="6350" cap="flat">
              <a:solidFill>
                <a:srgbClr val="E6DF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Capa. Troque mês, empresa, público e data. A frase em itálico é a conclusão do mês em uma linha: escreva por último.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 do mês. Use os três números que mais importam para quem ouve. O texto abaixo dos cards vem da aba Resumo da planilha Relatório Mensal Pronto.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Destaque positivo com gráfico. Clique no gráfico &gt; Editar dados para trocar os valores. Mantenha a linha da meta.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Destaque com número grande. Um número, uma causa, uma ação. Troque a unidade se não for percentual.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de atenção em três colunas. Nunca apresente um problema sem a ação proposta na terceira coluna.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de atenção com gráfico de linha e meta. Diga a causa provável como hipótese, não como certeza.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Próximos passos. Três é o limite: mais que isso ninguém lembra.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Pedido ou decisão. Uma frase, um valor, um prazo. Termine a reunião com a resposta registrada.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22960"/>
            <a:ext cx="384048" cy="128016"/>
          </a:xfrm>
          <a:prstGeom prst="roundRect">
            <a:avLst>
              <a:gd name="adj" fmla="val 42857"/>
            </a:avLst>
          </a:prstGeom>
          <a:solidFill>
            <a:srgbClr val="B89BE0"/>
          </a:solidFill>
          <a:ln w="12700">
            <a:solidFill>
              <a:srgbClr val="B89B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384048" cy="128016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493776"/>
            <a:ext cx="384048" cy="128016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859536"/>
            <a:ext cx="118872" cy="118872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de setembro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Comunicação · apresentado à diretoria · 5 de outubro de 2026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918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uma frase: receita e resultado cresceram; conversão de leads e despesas pedem atenção.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Essencial · modelo do Seu Sócio Gestor. Troque os textos; mantenha a estrutura.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B89BE0"/>
          </a:solidFill>
          <a:ln w="12700">
            <a:solidFill>
              <a:srgbClr val="B89B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Setembro fechou com R$ 41 mil de resultado, 11% acima de agosto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números que resumem o mês. Os demais estão no relatório completo.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R$ 131 mil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71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+5% vs. agosto · meta R$ 120 mil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60020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783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R$ 89,8 mil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Despesas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971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+3% vs. agosto · acima da meta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60020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1783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R$ 41,4 mil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971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vs. agosto · meta R$ 35 mil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dos 12 indicadores no alvo. Fora da meta: despesas e taxa de conversão de leads.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Essencial · modelo do Seu Sócio Gestor. Troque os textos; mantenha a estrutura.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cresceu pelo terceiro mês seguido e passou a meta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mensal (R$ mil) e meta. Fonte: planilha Relatório Mensal Pronto.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120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68680" y="2651760"/>
            <a:ext cx="4480560" cy="0"/>
          </a:xfrm>
          <a:prstGeom prst="line">
            <a:avLst/>
          </a:prstGeom>
          <a:noFill/>
          <a:ln w="25400">
            <a:solidFill>
              <a:srgbClr val="FFC83D"/>
            </a:solidFill>
            <a:prstDash val="dash"/>
          </a:ln>
        </p:spPr>
      </p:sp>
      <p:sp>
        <p:nvSpPr>
          <p:cNvPr id="6" name="Text 3"/>
          <p:cNvSpPr txBox="1"/>
          <p:nvPr/>
        </p:nvSpPr>
        <p:spPr>
          <a:xfrm>
            <a:off x="4114800" y="23957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R$ 120 mil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155448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puxou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médio subiu para R$ 9,7 mil (+3%).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 novos clientes em agosto renderam em setembro.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Serviços foram 95% da receita; produtos começaram (R$ 320).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Essencial · modelo do Seu Sócio Gestor. Troque os textos; mantenha a estrutura.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Inadimplência caiu para 2,4%, o menor nível do ano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Meta: 3,0%. Quanto menor, melhor.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651760" cy="2651760"/>
          </a:xfrm>
          <a:prstGeom prst="ellipse">
            <a:avLst/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3317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2,4%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 4,1% em janeiro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164592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quê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Cobrança automática no 3º dia de atraso desde maio.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 passou a ser a forma padrão nas propostas.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clientes recorrentes migraram para pagamento adiantado.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manter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Régua de cobrança e Pix como padrão.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Essencial · modelo do Seu Sócio Gestor. Troque os textos; mantenha a estrutura.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Despesas passaram a meta pelo segundo mês: R$ 89,8 mil contra R$ 85 mil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atenção. O que aconteceu, a causa e o que fazemos.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D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aconteceu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4884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Despesas +3% em setembro e +6% acima da meta. Alimentação, transporte e educação subiram.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55448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D2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 provável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14884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 de motion (R$ 297) e dois eventos com equipe. Parte é pontual, parte é reajuste de fornecedores.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55448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3EEFB"/>
          </a:solidFill>
          <a:ln w="12700">
            <a:solidFill>
              <a:srgbClr val="DCD2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 proposta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14884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Congelar novas assinaturas até dezembro; renegociar dois fornecedores; revisar a meta para R$ 88 mil.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Essencial · modelo do Seu Sócio Gestor. Troque os textos; mantenha a estrutura.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Conversão de leads caiu para 4,4% e ficou abaixo da meta de 5%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conversão (%) por mês. Fonte: planilha Relatório Mensal Pronto.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120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852160" y="155448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leads (137) e menos fechamentos: a qualidade caiu com o impulsionamento novo.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Ajustar o público do anúncio e qualificar o lead no primeiro contato. Revisar em 30 dias.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Essencial · modelo do Seu Sócio Gestor. Troque os textos; mantenha a estrutura.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ações para outubro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uma com responsável e data. Sem responsável, não é ação.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66420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Renegociar dois fornecedores de alimentação e transporte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16642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· até 15/10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651760"/>
            <a:ext cx="502920" cy="50292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62432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Ajustar público do anúncio e criar triagem de leads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6243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Bruno · até 10/10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611880"/>
            <a:ext cx="502920" cy="50292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58444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a meta de despesas e apresentar o novo orçamento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35844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· até 31/10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Essencial · modelo do Seu Sócio Gestor. Troque os textos; mantenha a estrutura.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B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22960"/>
            <a:ext cx="384048" cy="128016"/>
          </a:xfrm>
          <a:prstGeom prst="roundRect">
            <a:avLst>
              <a:gd name="adj" fmla="val 42857"/>
            </a:avLst>
          </a:prstGeom>
          <a:solidFill>
            <a:srgbClr val="B89BE0"/>
          </a:solidFill>
          <a:ln w="12700">
            <a:solidFill>
              <a:srgbClr val="B89B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384048" cy="128016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493776"/>
            <a:ext cx="384048" cy="128016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859536"/>
            <a:ext cx="118872" cy="118872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preciso de vocês hoje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77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Aprovar a revisão da meta de despesas para R$ 88 mil e a verba de R$ 1.500 para o novo teste de anúncios em outubro.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3566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Aprovado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51760" y="356616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3B1F5E"/>
          </a:solidFill>
          <a:ln w="19050">
            <a:solidFill>
              <a:srgbClr val="B89B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3566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Precisa de ajuste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Essencial · modelo do Seu Sócio Gestor. Troque os textos; mantenha a estrutura.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B89BE0"/>
          </a:solidFill>
          <a:ln w="12700">
            <a:solidFill>
              <a:srgbClr val="B89B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Relatório mensal · modelo de 8 slides</dc:title>
  <dc:subject>PptxGenJS Presentation</dc:subject>
  <dc:creator>Seu Sócio Gestor</dc:creator>
  <cp:lastModifiedBy>Seu Sócio Gestor</cp:lastModifiedBy>
  <cp:revision>1</cp:revision>
  <dcterms:created xsi:type="dcterms:W3CDTF">2026-09-13T16:33:19Z</dcterms:created>
  <dcterms:modified xsi:type="dcterms:W3CDTF">2026-09-13T16:33:19Z</dcterms:modified>
</cp:coreProperties>
</file>