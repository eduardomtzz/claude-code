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R$ por hora faturável</c:v>
                </c:pt>
              </c:strCache>
            </c:strRef>
          </c:tx>
          <c:spPr>
            <a:solidFill>
              <a:srgbClr val="3B1F5E"/>
            </a:solidFill>
            <a:effectLst/>
          </c:spPr>
          <c:invertIfNegative val="0"/>
          <c:dLbls>
            <c:numFmt formatCode="&quot;R$ &quot;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123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Marina Ferraz</c:v>
                  </c:pt>
                  <c:pt idx="1">
                    <c:v>Rafael Lima</c:v>
                  </c:pt>
                  <c:pt idx="2">
                    <c:v>Custo-hora do escritório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199</c:v>
                </c:pt>
                <c:pt idx="1">
                  <c:v>117</c:v>
                </c:pt>
                <c:pt idx="2">
                  <c:v>84</c:v>
                </c:pt>
              </c:numCache>
            </c:numRef>
          </c:val>
        </c:ser>
        <c:dLbls>
          <c:numFmt formatCode="&quot;R$ &quot;0" sourceLinked="0"/>
          <c:txPr>
            <a:bodyPr/>
            <a:lstStyle/>
            <a:p>
              <a:pPr>
                <a:defRPr b="0" i="0" strike="noStrike" sz="1000" u="none">
                  <a:solidFill>
                    <a:srgbClr val="1F123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4A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0"/>
          <c:min val="0"/>
        </c:scaling>
        <c:delete val="0"/>
        <c:axPos val="l"/>
        <c:majorGridlines>
          <c:spPr>
            <a:ln w="6350" cap="flat">
              <a:solidFill>
                <a:srgbClr val="E6DF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4A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Entrou</c:v>
                </c:pt>
              </c:strCache>
            </c:strRef>
          </c:tx>
          <c:spPr>
            <a:solidFill>
              <a:srgbClr val="3B1F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123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Julho</c:v>
                  </c:pt>
                  <c:pt idx="1">
                    <c:v>Agosto</c:v>
                  </c:pt>
                  <c:pt idx="2">
                    <c:v>Setembro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23800</c:v>
                </c:pt>
                <c:pt idx="1">
                  <c:v>27900</c:v>
                </c:pt>
                <c:pt idx="2">
                  <c:v>29400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Saiu</c:v>
                </c:pt>
              </c:strCache>
            </c:strRef>
          </c:tx>
          <c:spPr>
            <a:solidFill>
              <a:srgbClr val="B89BE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123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Julho</c:v>
                  </c:pt>
                  <c:pt idx="1">
                    <c:v>Agosto</c:v>
                  </c:pt>
                  <c:pt idx="2">
                    <c:v>Setembro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19888</c:v>
                </c:pt>
                <c:pt idx="1">
                  <c:v>20064</c:v>
                </c:pt>
                <c:pt idx="2">
                  <c:v>20179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123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4A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000"/>
          <c:min val="0"/>
        </c:scaling>
        <c:delete val="0"/>
        <c:axPos val="l"/>
        <c:majorGridlines>
          <c:spPr>
            <a:ln w="6350" cap="flat">
              <a:solidFill>
                <a:srgbClr val="E6DFF2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4A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 do Kit de Gestão para Advogados: troque os textos e mantenha a estrutura. Capa. A frase em itálico é a conclusão do mês em uma linha: escreva por último, depois de montar os outros slides. Os números vêm do Painel do escritório (planilha 17, aba Histórico), do Caixa (09) e da Carteira (13). O prompt "Explicar o mês" ajuda a escrever a frase.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Resumo. Três números: o que entrou, o que sobrou e o que ainda vai entrar. O card destacado é o resultado. Diga o número ruim junto com o bom.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Prazos. Sete atrasados é o pior número do ano (o histórico do painel mostra 3, 2, 4, 1, 5, 6, 4, 5, 7). Não discuta caso a caso aqui: a lista com número do processo está na Agenda de prazos. Aqui a pergunta é: o que muda na rotina de segunda?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Horas por pessoa vêm da planilha 16 (Horas por caso e por pessoa); o "entrou" por sócio, do Caixa (09) filtrado por responsável do caso. Clique no gráfico &gt; Editar dados para trocar os valores. A estagiária não fatura direto, por isso os traços.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Caixa. Gráfico de colunas nativo: Entrou e Saiu por mês; a diferença é o que sobrou. Os três meses vêm da aba Histórico do painel. Se o mês fechou negativo, diga primeiro e explique por quê.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Recebíveis. Separe sempre o que está vencido do que é êxito: êxito sem data não é inadimplência. Se quiser, acrescente a lista dos cinco maiores vencidos da planilha 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Decisões. Só o que precisa de sim ou não dos sócios, com valor e prazo. No máximo três: mais que isso vira discussão sem fim.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Próximos passos. Copie para a rotina da semana (planilha 03) e confira na próxima reunião o que foi feito. Não termine com "obrigado": termine com a data da próxima reunião.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1F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22960"/>
            <a:ext cx="384048" cy="128016"/>
          </a:xfrm>
          <a:prstGeom prst="roundRect">
            <a:avLst>
              <a:gd name="adj" fmla="val 42857"/>
            </a:avLst>
          </a:prstGeom>
          <a:solidFill>
            <a:srgbClr val="B89BE0"/>
          </a:solidFill>
          <a:ln w="12700">
            <a:solidFill>
              <a:srgbClr val="B89B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384048" cy="128016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493776"/>
            <a:ext cx="384048" cy="128016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859536"/>
            <a:ext cx="118872" cy="118872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de setembro de 2026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Ferraz &amp; Lima Advocacia (exemplo fictício) · reunião dos sócios · 2 de outubro de 2026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2918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uma frase: melhor caixa do ano (sobrou R$ 9,2 mil), mas 7 prazos atrasados e R$ 21,6 mil vencidos pedem ação esta semana.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791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de Gestão para Advogados · modelo v1.0 · set/2026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B89BE0"/>
          </a:solidFill>
          <a:ln w="12700">
            <a:solidFill>
              <a:srgbClr val="B89B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mês em três números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Painel do escritório (17), Caixa (09) e Carteira de clientes e casos (13).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45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R$ 29,4 mil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77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(entrou no mês)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R$ 27,9 mil em agosto (+5%). Honorários por hora e fixos puxaram; nenhum êxito recebido.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150876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645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R$ 9,2 mil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377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(sobrou)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6974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 de R$ 6,4 mil de custo fixo, R$ 12 mil de pró-labore e R$ 1,8 mil de impostos. Agosto: R$ 7,8 mil.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0" y="150876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26480" y="1645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R$ 128,3 mil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2377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receber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26974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R$ 21,6 mil já vencidos (16,8%). R$ 36 mil são honorários de êxito, que só entram no fim dos casos.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Trinta casos ativos com 18 clientes; 318 horas registradas no mês, 226 faturáveis (71%).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791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8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de Gestão para Advogados · modelo v1.0 · set/2026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7A5AA8"/>
          </a:solidFill>
          <a:ln w="12700">
            <a:solidFill>
              <a:srgbClr val="7A5A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Prazos da semana e casos ativos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de prazos (01), semáforo de 2/10. Atrasado é prazo cujo registro na agenda venceu sem baixa.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00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Prazos nos próximos 7 dias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146304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600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Prazos atrasados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0" y="146304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0" y="1600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ativos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8036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554480"/>
                <a:gridCol w="1371600"/>
                <a:gridCol w="1463040"/>
                <a:gridCol w="14630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Responsável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Prazos na semana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Atrasados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Casos ativos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Horas no mês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Marina Ferraz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Rafael Lima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Escritório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318 horas, 72 são da estagiária. Casos ativos por fase: 6 iniciais, 1 em instrução, 4 em sentença, 5 em recurso, 2 em execução, 8 em acordo e 4 consultivos.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791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8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de Gestão para Advogados · modelo v1.0 · set/2026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7A5AA8"/>
          </a:solidFill>
          <a:ln w="12700">
            <a:solidFill>
              <a:srgbClr val="7A5AA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Horas × faturado por sócio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do mês por hora faturável, comparada ao custo-hora do escritório (planilha 05).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39319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508760"/>
          <a:ext cx="4114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94360"/>
                <a:gridCol w="777240"/>
                <a:gridCol w="777240"/>
                <a:gridCol w="5943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Pessoa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Horas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Faturáveis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Entrou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R$/h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Marina Ferraz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19.100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Rafael Lima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10.300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Júlia Prado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29.400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0" y="329184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casos ativos já passaram das horas estimadas (8 da Marina, 4 do Rafael): candidatos a revisão de honorário ou aditivo.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Custo-hora de R$ 84 = (custo fixo + pró-labore) ÷ 220 horas faturáveis dos sócios.</a:t>
            </a:r>
            <a:endParaRPr lang="en-US" sz="105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791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8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de Gestão para Advogados · modelo v1.0 · set/2026</a:t>
            </a:r>
            <a:endParaRPr lang="en-US" sz="700" dirty="0"/>
          </a:p>
        </p:txBody>
      </p:sp>
      <p:sp>
        <p:nvSpPr>
          <p:cNvPr id="8" name="Shape 4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7A5AA8"/>
          </a:solidFill>
          <a:ln w="12700">
            <a:solidFill>
              <a:srgbClr val="7A5AA8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Caixa: entrou × saiu nos últimos três meses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Caixa do escritório (09), aba Painel. Saiu inclui custo fixo, pró-labore e impostos do mês.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493776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0" y="1508760"/>
            <a:ext cx="3108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Setembro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Entrou R$ 29.400, saiu R$ 20.179, sobrou R$ 9.221 (agosto: R$ 7.836; julho: R$ 3.912).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Saídas do mês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fixo R$ 6.415 · pró-labore R$ 12.000 · impostos R$ 1.764 (6% da receita, alíquota efetiva combinada com o contador).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ano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Sobrou R$ 40,7 mil de janeiro a setembro. Reserva alvo (3 meses de custo fixo com pró-labore): R$ 55,2 mil.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791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8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de Gestão para Advogados · modelo v1.0 · set/2026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7A5AA8"/>
          </a:solidFill>
          <a:ln w="12700">
            <a:solidFill>
              <a:srgbClr val="7A5AA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Recebíveis e inadimplência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Carteira de clientes e casos (13) e Parcelas e inadimplência (14), posição de 2/10.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60320" cy="1691640"/>
          </a:xfrm>
          <a:prstGeom prst="roundRect">
            <a:avLst>
              <a:gd name="adj" fmla="val 6486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00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R$ 128,3 mil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receber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51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contratado menos recebido, nos 38 casos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1463040"/>
            <a:ext cx="2560320" cy="1691640"/>
          </a:xfrm>
          <a:prstGeom prst="roundRect">
            <a:avLst>
              <a:gd name="adj" fmla="val 6486"/>
            </a:avLst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600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R$ 21,6 mil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Vencido (16,8%)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651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R$ 20,9 mil em agosto; R$ 23,6 mil em julho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0" y="1463040"/>
            <a:ext cx="2560320" cy="1691640"/>
          </a:xfrm>
          <a:prstGeom prst="roundRect">
            <a:avLst>
              <a:gd name="adj" fmla="val 6486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26480" y="1600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R$ 36,0 mil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Êxito pendente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2651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casos; só entra no fim, não conta como atraso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3375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sócio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Marina: R$ 102,8 mil a receber (R$ 26,1 mil de êxito). Rafael: R$ 25,5 mil (R$ 9,9 mil de êxito). Sem êxito: R$ 92,3 mil em 15 casos com parcelas datadas.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Cobrança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Régua da planilha 14: lembrete no vencimento, mensagem em 7 dias, ligação em 15, reunião em 30. Os modelos de mensagem do kit evitam o constrangimento.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791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8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de Gestão para Advogados · modelo v1.0 · set/2026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7A5AA8"/>
          </a:solidFill>
          <a:ln w="12700">
            <a:solidFill>
              <a:srgbClr val="7A5A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B1F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decisões para hoje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Separar R$ 4.000 do resultado de setembro para a reserva do escritório, todo mês, até chegar a três meses de custo fixo (R$ 55,2 mil).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novos só em modalidade fixa, por hora ou mista: a parte fixa precisa cobrir as horas estimadas. Hoje R$ 36 mil estão parados em quatro casos de êxito.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Contratar mais 20 horas por mês da estagiária (R$ 700) para prazos e cobrança, ou redistribuir os 12 casos acima das horas estimadas? Decidir hoje.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1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de Gestão para Advogados · modelo v1.0 · set/2026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B89BE0"/>
          </a:solidFill>
          <a:ln w="12700">
            <a:solidFill>
              <a:srgbClr val="B89B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Registre a resposta (sim, não, adiado) na ata da reunião antes de passar ao próximo slide.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linha tem um responsável e uma data. Sem dono, não entra na lista.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1920240"/>
                <a:gridCol w="118872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Prazo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Zerar os 7 prazos atrasados e registrar a baixa na Agenda de prazos (01)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Marina (5) e Rafael (2)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9/10/2026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Enviar lembrete de cobrança a todas as parcelas vencidas (modelos do kit)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Júlia Prado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9/10/2026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Ligar para os clientes com parcela vencida há mais de 30 dias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Marina e Rafael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16/10/2026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Revisar honorário dos 12 casos acima das horas estimadas (planilhas 16 e 06)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Marina Ferraz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23/10/2026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Transferir R$ 4.000 para a reserva e registrar na planilha 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Rafael Lima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28/10/2026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Fechar o painel de outubro e enviar o resumo ao contador (planilha 20)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Rafael Lima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5/11/2026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 reunião de resultado: 6 de novembro de 2026, com o fechamento de outubro.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791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8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de Gestão para Advogados · modelo v1.0 · set/2026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7A5AA8"/>
          </a:solidFill>
          <a:ln w="12700">
            <a:solidFill>
              <a:srgbClr val="7A5AA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Resultado do mês para os sócios · modelo de 8 slides</dc:title>
  <dc:subject>PptxGenJS Presentation</dc:subject>
  <dc:creator>Kit de Gestão para Advogados</dc:creator>
  <cp:lastModifiedBy>Kit de Gestão para Advogados</cp:lastModifiedBy>
  <cp:revision>1</cp:revision>
  <dcterms:created xsi:type="dcterms:W3CDTF">2026-09-14T09:35:52Z</dcterms:created>
  <dcterms:modified xsi:type="dcterms:W3CDTF">2026-09-14T09:35:52Z</dcterms:modified>
</cp:coreProperties>
</file>