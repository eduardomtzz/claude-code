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do Kit de Gestão para Advogados: troque os textos e mantenha a estrutura. Capa. O título diz o que o cliente contrata, em linguagem dele, não o nome da área. Validade sempre na capa. Os valores vêm do Simulador de honorário (06) e da Proposta de honorários (07); a equipe e as horas, do Custo-hora (05).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Entendimento. Se o cliente ler e pensar "é isso mesmo", a proposta já está meio aceita. Escopo, não tese: a análise do caso fica para o trabalho contratado.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Etapas. Descreva o caminho em linguagem de gestão (o que acontece, quando, com que frequência), não em linguagem processual. Prazos sempre com "estimativa".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Equipe. Nome, papel e o que cada um faz neste caso. As horas por pessoa vêm do Simulador (06) e servem de base para o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Valores. Tabela nativa: clique e edite. Mostre no máximo duas opções e diga qual recomenda. O valor sai do Simulador de honorário (06); a coerência com outros casos, da Tabela de referência (08).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Condições. Parcelas com data e valor; a soma tem de bater com o valor total do slide anterior. As datas do exemplo partem da assinatura em outubro de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Incluído e não incluído. É o slide que evita desgaste depois. Nunca pule. Se o cliente pedir algo da coluna direita, é proposta nova, não favor.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Comunicação. Quatro compromissos simples. Cumpri-los vale mais que qualquer adjetivo sobre o escritório.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 com data. O primeiro é a decisão do cliente; os outros mostram que o escritório já tem o caminho pronto.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contato de quem responde, com horário. Não termine com "obrigado": termine com como falar com você.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93776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859536"/>
            <a:ext cx="118872" cy="118872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honorários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Loja Verde Comércio · demanda contratual com fornecedor · 15 de setembro de 2026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91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Preparada por Ferraz &amp; Lima Advocacia (exemplo fictício). Válida até 30 de setembro de 2026.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entendemos do seu caso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o escopo, com as palavras usadas na reunião. Sem opinião sobre o mérito nesta proposta.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Loja Verde tem uma divergência com um fornecedor sobre entregas e valores de um contrato de 2025; os documentos já estão reunidos pela empresa.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empresa quer tentar primeiro um acordo e, se não houver, seguir com a demanda.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importa para vocês: previsibilidade de custo, um retorno mensal sobre o andamento e alguém que fale com o fornecedor no lugar da empresa.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deste escopo: outros contratos e a rotina societária da empresa (proposta à parte, se quiserem).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e prazos estimados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etapas. Os prazos dependem da outra parte e do andamento: são estimativas, revistas no relatório mensal.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1 e 2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175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dos documentos, reunião de alinhamento e plano de trabalho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16002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Negociar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3 a 8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0175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 com o fornecedor, propostas de acordo e reuniões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6002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do 3º mês, se não houver acordo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0175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preparação, protocolo e acompanhamento de cada etapa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160020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 18 meses (estimativa)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0175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audiências, reuniões e relatório mensal até o encerramento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etapa destacada é onde a maior parte dos casos como este se resolve. Se houver acordo, o trabalho termina na etapa 2.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cuida do caso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responsável, um sócio de apoio e uma estagiária. Você sempre sabe com quem falar.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Marina Ferraz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1600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Sócia responsável · cível e empresarial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6002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Conduz o caso, as reuniões com a empresa e a negociação com o fornecedor. Estimativa: 70 horas.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4963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Lima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49631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Sócio de apoio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49631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 o que sai do escritório e substitui a Marina em audiências e reuniões quando preciso. Estimativa: 15 horas.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300984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39242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Júlia Prado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392424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Estagiária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392424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 documentos, agenda e o relatório mensal, sob supervisão da Marina. Estimativa: 25 horas.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horas estimadas no total, base do valor da próxima página (planilha Simulador de honorário, 06).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Modalidade e valores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opções para as mesmas quatro etapas. Valores de exemplo, para editar.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2194560"/>
                <a:gridCol w="109728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Modalidade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fixo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Parcela de êxito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Horas estimadas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paga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Opção A · Honorário fixo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R$ 14.400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há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 na assinatura + 4 parcelas mensais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Opção B · Misto (recomendada)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R$ 9.600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 do valor recuperado ou economizado, ao final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 na assinatura + 4 parcelas; êxito ao final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971800"/>
            <a:ext cx="822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chegamos ao valor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Custo-hora do escritório × 110 horas estimadas + margem, conferido com a tabela interna de casos do mesmo tipo (planilha 08).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recomendamos a opção mista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menor para a empresa e o escritório participa do resultado. Se nada for recuperado ou economizado, não há parcela de êxito.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incluído no valor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Custas e despesas de terceiros (perícia, certidões, deslocamento), reembolsadas com comprovante.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Condições de pagamento e parcelas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de 30% na assinatura do contrato e quatro parcelas mensais no dia 10, por Pix ou boleto.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201168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Parcela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Vencimento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Opção A · Fixo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Opção B · Misto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Entrada (30%)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 assinatura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R$ 4.320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R$ 2.880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1ª parcela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10/11/2026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R$ 1.680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2ª parcela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10/12/2026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R$ 1.680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3ª parcela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10/01/2027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R$ 1.680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4ª parcela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10/02/2027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R$ 1.680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R$ 14.400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R$ 9.600 + êxito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Êxito da opção B: apurado e pago em até 30 dias depois de a empresa receber o valor. Despesas de terceiros: previsão de até R$ 1.500 no primeiro ano, sempre autorizadas antes. Atraso: aviso em 7 dias; condições de reajuste e de rescisão ficam no contrato.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está incluído e o que não está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não haver surpresa. O que não está aqui pode ser contratado à parte.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063240"/>
          </a:xfrm>
          <a:prstGeom prst="roundRect">
            <a:avLst>
              <a:gd name="adj" fmla="val 3582"/>
            </a:avLst>
          </a:prstGeom>
          <a:solidFill>
            <a:srgbClr val="DDF3E7"/>
          </a:solidFill>
          <a:ln w="12700">
            <a:solidFill>
              <a:srgbClr val="DDF3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Incluído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quatro etapas do slide 3, até o encerramento do caso.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Negociação com o fornecedor em nome da empresa.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duas reuniões por mês com a empresa (presenciais ou por vídeo).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mensal por e-mail e atendimento em horário comercial.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e guarda dos documentos do caso.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3063240"/>
          </a:xfrm>
          <a:prstGeom prst="roundRect">
            <a:avLst>
              <a:gd name="adj" fmla="val 3582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incluído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0116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Custas e despesas de terceiros (reembolsadas com comprovante).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a instâncias superiores: proposta específica, se chegar lá.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Outros contratos ou demandas da empresa.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Viagens fora da cidade (reembolso combinado antes).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Serviços de contabilidade, perícia ou tradução.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vamos nos falar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Rotina combinada desde o início: você sabe quando terá notícia, sem precisar perguntar.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74520" cy="2240280"/>
          </a:xfrm>
          <a:prstGeom prst="roundRect">
            <a:avLst>
              <a:gd name="adj" fmla="val 5854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Reunião de 30 min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 semana do mês, presencial ou por vídeo, com a Marina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1554480"/>
            <a:ext cx="1874520" cy="2240280"/>
          </a:xfrm>
          <a:prstGeom prst="roundRect">
            <a:avLst>
              <a:gd name="adj" fmla="val 585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6916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423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mensal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aconteceu, o que vem, custos e despesas do mês, em uma página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554480"/>
            <a:ext cx="1874520" cy="2240280"/>
          </a:xfrm>
          <a:prstGeom prst="roundRect">
            <a:avLst>
              <a:gd name="adj" fmla="val 585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6916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dias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423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e-mail e WhatsApp comercial, em até 2 dias úteis, de segunda a sexta, das 9h às 18h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1874520" cy="2240280"/>
          </a:xfrm>
          <a:prstGeom prst="roundRect">
            <a:avLst>
              <a:gd name="adj" fmla="val 585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16916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dia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423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 relevante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 de qualquer movimento que mude prazo, custo ou decisão, com o que muda para a empresa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o que for combinado nas reuniões vai por e-mail no mesmo dia, para ficar registrado. Urgências: telefone dos sócios.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passos até o início do trabalho.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819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 da proposta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581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e-mail ou assinatura, com a escolha da opção A ou B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58191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30/09/2026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350008"/>
            <a:ext cx="457200" cy="457200"/>
          </a:xfrm>
          <a:prstGeom prst="ellipse">
            <a:avLst/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3317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de honorários e entrada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e pagamento dos 30%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3317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7/10/2026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08376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099816"/>
            <a:ext cx="457200" cy="457200"/>
          </a:xfrm>
          <a:prstGeom prst="ellipse">
            <a:avLst/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0815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Reunião de abertura (1 hora)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30815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dos documentos e plano de trabalho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0815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de 13/10/2026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758184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849624"/>
            <a:ext cx="457200" cy="457200"/>
          </a:xfrm>
          <a:prstGeom prst="ellipse">
            <a:avLst/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383133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relatório mensal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38313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resultado da etapa 1 e a agenda da negociação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38313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5/11/2026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Marina Ferraz · sócia responsável · marina@ferrazlima.exemplo · (11) 9 0000-0000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Lima · sócio · rafael@ferrazlima.exemplo · (11) 9 0000-0001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Ferraz &amp; Lima Advocacia · Rua Exemplo, 100 · São Paulo · seg. a sex., 9h às 18h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fictícios. Esta apresentação acompanha a proposta; as condições finais ficam no contrato de honorários.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de honorários · modelo de 10 slides</dc:title>
  <dc:subject>PptxGenJS Presentation</dc:subject>
  <dc:creator>Kit de Gestão para Advogados</dc:creator>
  <cp:lastModifiedBy>Kit de Gestão para Advogados</cp:lastModifiedBy>
  <cp:revision>1</cp:revision>
  <dcterms:created xsi:type="dcterms:W3CDTF">2026-09-14T09:35:53Z</dcterms:created>
  <dcterms:modified xsi:type="dcterms:W3CDTF">2026-09-14T09:35:53Z</dcterms:modified>
</cp:coreProperties>
</file>