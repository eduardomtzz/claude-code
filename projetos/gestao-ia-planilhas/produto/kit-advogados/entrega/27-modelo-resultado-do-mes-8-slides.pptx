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Horas faturáveis em agosto</c:v>
                </c:pt>
              </c:strCache>
            </c:strRef>
          </c:tx>
          <c:spPr>
            <a:solidFill>
              <a:srgbClr val="3B1F5E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23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Marina Ferraz</c:v>
                  </c:pt>
                  <c:pt idx="1">
                    <c:v>Rafael Lima</c:v>
                  </c:pt>
                  <c:pt idx="2">
                    <c:v>Júlia Prado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101.5</c:v>
                </c:pt>
                <c:pt idx="1">
                  <c:v>88</c:v>
                </c:pt>
                <c:pt idx="2">
                  <c:v>58.5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Meta de faturáveis por mês</c:v>
                </c:pt>
              </c:strCache>
            </c:strRef>
          </c:tx>
          <c:spPr>
            <a:solidFill>
              <a:srgbClr val="B89BE0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23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Marina Ferraz</c:v>
                  </c:pt>
                  <c:pt idx="1">
                    <c:v>Rafael Lima</c:v>
                  </c:pt>
                  <c:pt idx="2">
                    <c:v>Júlia Prado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110</c:v>
                </c:pt>
                <c:pt idx="1">
                  <c:v>110</c:v>
                </c:pt>
                <c:pt idx="2">
                  <c:v>60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900" u="none">
                  <a:solidFill>
                    <a:srgbClr val="1F123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4A7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0"/>
          <c:min val="0"/>
        </c:scaling>
        <c:delete val="0"/>
        <c:axPos val="l"/>
        <c:majorGridlines>
          <c:spPr>
            <a:ln w="6350" cap="flat">
              <a:solidFill>
                <a:srgbClr val="E6DF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4A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Entrou</c:v>
                </c:pt>
              </c:strCache>
            </c:strRef>
          </c:tx>
          <c:spPr>
            <a:solidFill>
              <a:srgbClr val="3B1F5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23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Junho</c:v>
                  </c:pt>
                  <c:pt idx="1">
                    <c:v>Julho</c:v>
                  </c:pt>
                  <c:pt idx="2">
                    <c:v>Agosto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27420</c:v>
                </c:pt>
                <c:pt idx="1">
                  <c:v>29460</c:v>
                </c:pt>
                <c:pt idx="2">
                  <c:v>26900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Saiu</c:v>
                </c:pt>
              </c:strCache>
            </c:strRef>
          </c:tx>
          <c:spPr>
            <a:solidFill>
              <a:srgbClr val="B89BE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23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Junho</c:v>
                  </c:pt>
                  <c:pt idx="1">
                    <c:v>Julho</c:v>
                  </c:pt>
                  <c:pt idx="2">
                    <c:v>Agosto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23085</c:v>
                </c:pt>
                <c:pt idx="1">
                  <c:v>28898</c:v>
                </c:pt>
                <c:pt idx="2">
                  <c:v>21897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23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4A7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000"/>
          <c:min val="0"/>
        </c:scaling>
        <c:delete val="0"/>
        <c:axPos val="l"/>
        <c:majorGridlines>
          <c:spPr>
            <a:ln w="6350" cap="flat">
              <a:solidFill>
                <a:srgbClr val="E6DFF2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4A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Kit de Gestão para Advogados · modelo v1.0 · set/2026 · Modelo do Kit de Gestão para Advogados (v1.0, set/2026): troque os textos e mantenha a estrutura. O símbolo do canto está no slide mestre (Exibir &gt; Slide mestre): apague lá uma vez e some de todos. Capa. A frase em itálico é a conclusão do mês em uma linha: escreva por último, depois de montar os outros slides. Os números vêm do Resultado mensal (18, Config = Agosto), do Caixa (09), das Horas (16) e da Carteira (13); a posição de prazos e parcelas é a de hoje (01 e 14). O prompt "Painel 01 · Explicar o mês ao sócio" ajuda a escrever a frase.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Kit de Gestão para Advogados · modelo v1.0 · set/2026 · Resumo. Três números: o que entrou, o que sobrou e o que ainda vai entrar. O card destacado é o resultado. Diga o número ruim junto com o bom. O resultado da DRE (18) não é o que sobrou no caixa (09: R$ 5.003): a DRE provisiona 8 % de impostos em vez da guia paga e deixa fora as despesas pessoais dos sócios (11).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Kit de Gestão para Advogados · modelo v1.0 · set/2026 · Prazos. Sete atrasados, quatro deles vencidos entre sexta e domingo: o que a rotina de sexta deixou passar. Não discuta caso a caso aqui: a lista com número do processo está na Agenda de prazos. A pergunta é: o que muda na rotina de segunda? A Júlia responde pelas juntadas de documentos; os casos continuam com o sócio.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Kit de Gestão para Advogados · modelo v1.0 · set/2026 · Horas por pessoa vêm da planilha 16 (Painel, Config = Agosto); custo-hora e hora mínima, da 05. Clique no gráfico &gt; Editar dados para trocar os valores. Os sócios ficaram perto ou acima da meta de 110 h faturáveis: o gargalo é agenda, não demanda.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Kit de Gestão para Advogados · modelo v1.0 · set/2026 · Caixa. Gráfico de colunas nativo: Entrou e Saiu por mês; a diferença é o que sobrou. Os três meses vêm do Painel mensal do Caixa (09) ou da aba Histórico do painel (17). Se o mês fechou negativo, diga primeiro e explique por quê.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Kit de Gestão para Advogados · modelo v1.0 · set/2026 · Recebíveis. Separe sempre o que está vencido do que é êxito: êxito sem data não é inadimplência. Inadimplência = vencido ÷ (pago + vencido), a mesma conta em todo o kit. A lista "Cobrar primeiro" da planilha 14 ordena por valor × dias de atraso.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Kit de Gestão para Advogados · modelo v1.0 · set/2026 · Decisões. Só o que precisa de sim ou não dos sócios, com valor e prazo. No máximo três: mais que isso vira discussão sem fim.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Kit de Gestão para Advogados · modelo v1.0 · set/2026 · Próximos passos. Copie para a rotina da semana (planilha 03) e confira na próxima reunião o que foi feito. Não termine com "obrigado": termine com a data da próxima reunião.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AR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21040" y="4846320"/>
            <a:ext cx="192024" cy="64008"/>
          </a:xfrm>
          <a:prstGeom prst="rect">
            <a:avLst>
              <a:gd name="adj" fmla="val 42857"/>
            </a:avLst>
          </a:prstGeom>
          <a:solidFill>
            <a:srgbClr val="7A5AA8"/>
          </a:solidFill>
          <a:ln w="12700">
            <a:solidFill>
              <a:srgbClr val="7A5AA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366760" y="4764024"/>
            <a:ext cx="192024" cy="64008"/>
          </a:xfrm>
          <a:prstGeom prst="rect">
            <a:avLst>
              <a:gd name="adj" fmla="val 42857"/>
            </a:avLst>
          </a:prstGeom>
          <a:solidFill>
            <a:srgbClr val="3B1F5E"/>
          </a:solidFill>
          <a:ln w="12700">
            <a:solidFill>
              <a:srgbClr val="3B1F5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0" y="4681728"/>
            <a:ext cx="192024" cy="64008"/>
          </a:xfrm>
          <a:prstGeom prst="rect">
            <a:avLst>
              <a:gd name="adj" fmla="val 42857"/>
            </a:avLst>
          </a:prstGeom>
          <a:solidFill>
            <a:srgbClr val="3B1F5E"/>
          </a:solidFill>
          <a:ln w="12700">
            <a:solidFill>
              <a:srgbClr val="3B1F5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04504" y="4864608"/>
            <a:ext cx="59436" cy="59436"/>
          </a:xfrm>
          <a:prstGeom prst="rect">
            <a:avLst>
              <a:gd name="adj" fmla="val 50000"/>
            </a:avLst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3B1F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21040" y="4846320"/>
            <a:ext cx="192024" cy="64008"/>
          </a:xfrm>
          <a:prstGeom prst="rect">
            <a:avLst>
              <a:gd name="adj" fmla="val 42857"/>
            </a:avLst>
          </a:prstGeom>
          <a:solidFill>
            <a:srgbClr val="B89BE0"/>
          </a:solidFill>
          <a:ln w="12700">
            <a:solidFill>
              <a:srgbClr val="B89B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366760" y="4764024"/>
            <a:ext cx="192024" cy="64008"/>
          </a:xfrm>
          <a:prstGeom prst="rect">
            <a:avLst>
              <a:gd name="adj" fmla="val 42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0" y="4681728"/>
            <a:ext cx="192024" cy="64008"/>
          </a:xfrm>
          <a:prstGeom prst="rect">
            <a:avLst>
              <a:gd name="adj" fmla="val 42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04504" y="4864608"/>
            <a:ext cx="59436" cy="59436"/>
          </a:xfrm>
          <a:prstGeom prst="rect">
            <a:avLst>
              <a:gd name="adj" fmla="val 50000"/>
            </a:avLst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7373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de agosto de 2026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606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89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Ferraz &amp; Lima Advocacia (exemplo fictício) · reunião dos sócios · segunda-feira, 14 de setembro de 2026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29184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uma frase: agosto deu resultado de R$ 5.688 (margem de 21 %), abaixo de julho; mas 7 prazos atrasados e R$ 14.480 vencidos hoje pedem ação esta semana.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mês em três números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Fonte: Resultado mensal (18) e Caixa do escritório (09), agosto fechado; Carteira (13) e Parcelas (14) na posição de 11/09.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F3EEFB"/>
          </a:solidFill>
          <a:ln w="12700">
            <a:solidFill>
              <a:srgbClr val="F3EEF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6459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R$ 26.900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3774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(entrou no mês)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R$ 29.460 em julho (−8,7 %). Honorários fixos R$ 15.300 e consultoria e pareceres R$ 11.290; nenhum êxito nem hora em agosto.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00400" y="150876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83280" y="16459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R$ 5.688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23774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(margem 21,1 %)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26974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depois de R$ 6.500 de custo fixo, R$ 560 de despesas de casos, R$ 12.000 de pró-labore e R$ 2.152 de impostos provisionados (8 %). Julho: R$ 8.293 (28,2 %).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943600" y="150876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F3EEFB"/>
          </a:solidFill>
          <a:ln w="12700">
            <a:solidFill>
              <a:srgbClr val="F3EE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26480" y="16459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R$ 111.990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23774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receber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126480" y="26974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R$ 14.480 já vencidos em 8 parcelas (inadimplência 5,1 %). R$ 30 mil são êxito puro de 5 casos, que só entra no fim.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Trinta casos ativos com 18 clientes; 304 horas registradas em agosto, 248 faturáveis (81,6 %).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Prazos da semana e casos ativos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 de prazos (01), semáforo de hoje, 14/09. Atrasado é prazo cujo registro na agenda venceu sem baixa.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560320" cy="1234440"/>
          </a:xfrm>
          <a:prstGeom prst="roundRect">
            <a:avLst>
              <a:gd name="adj" fmla="val 8889"/>
            </a:avLst>
          </a:prstGeom>
          <a:solidFill>
            <a:srgbClr val="F3EEFB"/>
          </a:solidFill>
          <a:ln w="12700">
            <a:solidFill>
              <a:srgbClr val="F3EEF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6002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331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Prazos de hoje e dos próximos 7 dias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00400" y="1463040"/>
            <a:ext cx="2560320" cy="1234440"/>
          </a:xfrm>
          <a:prstGeom prst="roundRect">
            <a:avLst>
              <a:gd name="adj" fmla="val 8889"/>
            </a:avLst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83280" y="16002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2331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Prazos atrasados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943600" y="1463040"/>
            <a:ext cx="2560320" cy="1234440"/>
          </a:xfrm>
          <a:prstGeom prst="roundRect">
            <a:avLst>
              <a:gd name="adj" fmla="val 8889"/>
            </a:avLst>
          </a:prstGeom>
          <a:solidFill>
            <a:srgbClr val="F3EEFB"/>
          </a:solidFill>
          <a:ln w="12700">
            <a:solidFill>
              <a:srgbClr val="F3EEF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26480" y="16002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6126480" y="2331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Casos ativos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8036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188720"/>
                <a:gridCol w="1097280"/>
                <a:gridCol w="914400"/>
                <a:gridCol w="1371600"/>
                <a:gridCol w="12801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Responsável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F5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Prazos abertos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F5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Atrasados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F5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Hoje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F5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alerta (7 dias)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F5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Horas em agosto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F5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Marina Ferraz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111,5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Rafael Lima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112,0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Júlia Prado (estagiária)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Escritório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304,0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 11"/>
          <p:cNvSpPr txBox="1"/>
          <p:nvPr/>
        </p:nvSpPr>
        <p:spPr>
          <a:xfrm>
            <a:off x="457200" y="455371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Casos ativos por fase (02): 7 consultivos, 8 iniciais, 4 em instrução, 3 em sentença, 3 em recurso, 3 em execução e 2 em acordo. Quatro parados há mais de 30 dias.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Horas de agosto contra a meta e o custo-hora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Horas por caso e por pessoa (16) e Custo-hora do escritório (05).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63040"/>
          <a:ext cx="40233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508760"/>
          <a:ext cx="411480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640080"/>
                <a:gridCol w="777240"/>
                <a:gridCol w="594360"/>
                <a:gridCol w="7772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Pessoa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F5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Horas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F5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Faturáveis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F5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fat.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F5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Custo-hora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F5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Marina Ferraz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111,5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101,5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91 %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R$ 72,76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Rafael Lima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112,0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79 %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R$ 72,76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Júlia Prado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73 %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R$ 41,55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Escritório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304,0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248,0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82 %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R$ 66,07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663440" y="32918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Leitura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Custo-hora do escritório R$ 66,07 (R$ 18.500 ÷ 280 h faturáveis) e hora mínima a cobrar R$ 110 (planilha 05).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Dois casos ativos já passaram das horas estimadas (16): Bistrô 42, 50 h para 45, êxito sem nada recebido; Escola Aurora, 100 h para 90.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Caixa: entrou × saiu nos últimos três meses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Caixa do escritório (09), aba Painel. Saiu inclui custo fixo, pró-labore, guia de impostos e despesas de casos.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63040"/>
          <a:ext cx="493776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669280" y="150876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Agosto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Entrou R$ 26.900, saiu R$ 21.897, sobrou R$ 5.003 (julho: R$ 562, com a distribuição do 2º trimestre; junho: R$ 4.335).</a:t>
            </a:r>
            <a:endParaRPr lang="en-US" sz="1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Saídas de agosto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fixo R$ 6.500 · pró-labore R$ 12.000 · guia de impostos R$ 2.357 (8 % das entradas de julho) · custas e deslocamento R$ 560 · despesa pessoal a acertar R$ 480.</a:t>
            </a:r>
            <a:endParaRPr lang="en-US" sz="1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ano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Sobrou R$ 21.783 de janeiro a agosto; saldo em caixa R$ 43.683. Reserva alvo (3 meses de custo fixo com pró-labore): R$ 55.500; guardado: R$ 12.000.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Recebíveis e inadimplência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Carteira de clientes e casos (13) e Parcelas e inadimplência (14), posição de sexta, 11/09.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560320" cy="1691640"/>
          </a:xfrm>
          <a:prstGeom prst="roundRect">
            <a:avLst>
              <a:gd name="adj" fmla="val 6486"/>
            </a:avLst>
          </a:prstGeom>
          <a:solidFill>
            <a:srgbClr val="F3EEFB"/>
          </a:solidFill>
          <a:ln w="12700">
            <a:solidFill>
              <a:srgbClr val="F3EEF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6002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R$ 111.990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331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receber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51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contratado menos recebido, nos 30 casos ativos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00400" y="1463040"/>
            <a:ext cx="2560320" cy="1691640"/>
          </a:xfrm>
          <a:prstGeom prst="roundRect">
            <a:avLst>
              <a:gd name="adj" fmla="val 6486"/>
            </a:avLst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83280" y="16002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R$ 14.480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2331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Vencido (5,1 %)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2651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parcelas; R$ 12.500 (4,5 %) no fim de agosto; R$ 8.900 (3,6 %) em julho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943600" y="1463040"/>
            <a:ext cx="2560320" cy="1691640"/>
          </a:xfrm>
          <a:prstGeom prst="roundRect">
            <a:avLst>
              <a:gd name="adj" fmla="val 6486"/>
            </a:avLst>
          </a:prstGeom>
          <a:solidFill>
            <a:srgbClr val="F3EEFB"/>
          </a:solidFill>
          <a:ln w="12700">
            <a:solidFill>
              <a:srgbClr val="F3EE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26480" y="16002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R$ 30.000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2331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Êxito pendente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126480" y="2651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casos de êxito puro; só entra no fim, não conta como atraso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337560"/>
            <a:ext cx="8229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Cobrar primeiro (14)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Seis parcelas com mais de 30 dias: Bistrô 42 (2 × R$ 2.100, 150 e 180 dias), Fernanda Castro (R$ 1.400, caso encerrado), Oficina Mecânica Central (R$ 1.500), Patrícia Gomes (R$ 2.100) e Agência Prisma (R$ 1.800).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Régua da planilha 14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dia: lembrete gentil · 7 dias: mensagem do responsável pelo caso · 15 dias: e-mail com demonstrativo e proposta de renegociação · 30 dias: ligação ou reunião e plano por escrito. Os modelos do bônus 22 seguem a régua.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5486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decisões para hoje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554480"/>
            <a:ext cx="7772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Separar R$ 3.000 por mês para a reserva do escritório, a partir de setembro, até chegar a três meses de custo fixo (R$ 55.500; hoje R$ 12.000, meta em dezembro de 2027 pela planilha 12).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Casos novos só em modalidade fixa, por hora ou mista: a parte fixa precisa cobrir as horas estimadas. Hoje R$ 30 mil estão parados em cinco casos de êxito puro.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Contratar mais 20 horas por mês da estagiária (R$ 467, na proporção da bolsa atual de R$ 1.400 por 60 h faturáveis) para juntadas e cobrança, ou redistribuir os prazos entre os sócios? Decidir hoje.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9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Registre a resposta (sim, não, adiado) na ata da reunião antes de passar ao próximo slide.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passos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linha tem um responsável e uma data. Sem dono, não entra na lista.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219456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F5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F5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F5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Zerar os 7 prazos atrasados e registrar a baixa na Agenda de prazos (01)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Marina (3), Rafael (3) e Júlia (1)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18/09/2026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Enviar a mensagem da régua para as 8 parcelas vencidas (modelos 04 a 07 do bônus 22)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Júlia Prado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16/09/2026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Ligar para os clientes com parcela vencida há mais de 30 dias e registrar o plano por escrito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Marina e Rafael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25/09/2026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Revisar o honorário dos 2 casos acima das horas estimadas (planilhas 16 e 06)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Rafael (Bistrô 42) e Marina (Escola Aurora)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30/09/2026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Transferir R$ 3.000 para a reserva e registrar na planilha 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Rafael Lima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28/09/2026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Fechar setembro e enviar o resumo ao contador (planilhas 18 e 20)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Rafael Lima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05/10/2026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reunião de resultado: 5 de outubro de 2026, com o fechamento de setembro.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Resultado do mês para os sócios · modelo de 8 slides</dc:title>
  <dc:subject>PptxGenJS Presentation</dc:subject>
  <dc:creator>Kit de Gestão para Advogados</dc:creator>
  <cp:lastModifiedBy>Kit de Gestão para Advogados</cp:lastModifiedBy>
  <cp:revision>1</cp:revision>
  <dcterms:created xsi:type="dcterms:W3CDTF">2026-09-14T19:14:50Z</dcterms:created>
  <dcterms:modified xsi:type="dcterms:W3CDTF">2026-09-14T19:14:50Z</dcterms:modified>
</cp:coreProperties>
</file>