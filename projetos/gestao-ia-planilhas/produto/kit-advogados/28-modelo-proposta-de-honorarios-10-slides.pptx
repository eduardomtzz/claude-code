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Kit de Gestão para Advogados · modelo v1.0 · set/2026 · Modelo do Kit de Gestão para Advogados (v1.0, set/2026): troque os textos e mantenha a estrutura. O símbolo do canto está no slide mestre (Exibir &gt; Slide mestre): apague lá uma vez e some de todos. Capa. O título diz o que o cliente contrata, em linguagem dele, não o nome da área. Validade sempre na capa. Os valores e as horas por etapa vêm da Proposta de honorários (07); a conta interna (Simulador 06, custo-hora 05) fica no escritório e não aparece em nenhum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Kit de Gestão para Advogados · modelo v1.0 · set/2026 · Entendimento. Se o cliente ler e pensar "é isso mesmo", a proposta já está meio aceita. Escopo, não tese: a análise do caso fica para o trabalho contratado.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Kit de Gestão para Advogados · modelo v1.0 · set/2026 · Etapas. Descreva o caminho em linguagem de gestão (o que acontece, quando, com que frequência), não em linguagem processual. Prazos sempre com "estimativa". As quatro etapas são as linhas da aba Proposta da planilha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Kit de Gestão para Advogados · modelo v1.0 · set/2026 · Equipe. Nome, papel e o que cada um faz neste caso. As horas por pessoa somam as horas por etapa da proposta (07); a conta de custo dessas horas é interna (05 e 06) e não entra aqui.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Kit de Gestão para Advogados · modelo v1.0 · set/2026 · Valores. Tabela nativa: clique e edite. Mostre no máximo duas opções e diga qual recomenda. O que o cliente vê: horas por etapa e valor por etapa (aba Proposta da 07). O que fica no escritório: custo-hora, margem e a comparação das modalidades (05, 06 e 08). Nunca cole essas contas aqui: é o item do checklist "Antes de enviar a proposta".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Kit de Gestão para Advogados · modelo v1.0 · set/2026 · Condições. Parcelas com data e valor: são as do cronograma de pagamento da planilha 07 (entrada 40 % = R$ 1.800; restante R$ 2.700 em 3 × R$ 900). A soma tem de bater com o valor total do slide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Kit de Gestão para Advogados · modelo v1.0 · set/2026 · Incluído e não incluído. É o slide que evita desgaste depois. Nunca pule. Se o cliente pedir algo da coluna direita, é proposta nova, não favor.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Kit de Gestão para Advogados · modelo v1.0 · set/2026 · Comunicação. Quatro compromissos simples. Cumpri-los vale mais que qualquer adjetivo sobre o escritório.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Kit de Gestão para Advogados · modelo v1.0 · set/2026 · Próximos passos com data. O primeiro é a decisão do cliente (a validade da proposta, 15 dias); os outros mostram que o escritório já tem o caminho pronto.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Kit de Gestão para Advogados · modelo v1.0 · set/2026 · Fechamento: contato de quem responde, com horário. Preencha [e-mail], [telefone] e [endereço]: os colchetes existem para ninguém enviar contato de exemplo. Não termine com "obrigado": termine com como falar com você.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ARO">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321040" y="4846320"/>
            <a:ext cx="192024" cy="64008"/>
          </a:xfrm>
          <a:prstGeom prst="rect">
            <a:avLst>
              <a:gd name="adj" fmla="val 42857"/>
            </a:avLst>
          </a:prstGeom>
          <a:solidFill>
            <a:srgbClr val="7A5AA8"/>
          </a:solidFill>
          <a:ln w="12700">
            <a:solidFill>
              <a:srgbClr val="7A5AA8"/>
            </a:solidFill>
            <a:prstDash val="solid"/>
          </a:ln>
        </p:spPr>
      </p:sp>
      <p:sp>
        <p:nvSpPr>
          <p:cNvPr id="3" name="Shape 1"/>
          <p:cNvSpPr/>
          <p:nvPr/>
        </p:nvSpPr>
        <p:spPr>
          <a:xfrm>
            <a:off x="8366760" y="4764024"/>
            <a:ext cx="192024" cy="64008"/>
          </a:xfrm>
          <a:prstGeom prst="rect">
            <a:avLst>
              <a:gd name="adj" fmla="val 42857"/>
            </a:avLst>
          </a:prstGeom>
          <a:solidFill>
            <a:srgbClr val="3B1F5E"/>
          </a:solidFill>
          <a:ln w="12700">
            <a:solidFill>
              <a:srgbClr val="3B1F5E"/>
            </a:solidFill>
            <a:prstDash val="solid"/>
          </a:ln>
        </p:spPr>
      </p:sp>
      <p:sp>
        <p:nvSpPr>
          <p:cNvPr id="4" name="Shape 2"/>
          <p:cNvSpPr/>
          <p:nvPr/>
        </p:nvSpPr>
        <p:spPr>
          <a:xfrm>
            <a:off x="8412480" y="4681728"/>
            <a:ext cx="192024" cy="64008"/>
          </a:xfrm>
          <a:prstGeom prst="rect">
            <a:avLst>
              <a:gd name="adj" fmla="val 42857"/>
            </a:avLst>
          </a:prstGeom>
          <a:solidFill>
            <a:srgbClr val="3B1F5E"/>
          </a:solidFill>
          <a:ln w="12700">
            <a:solidFill>
              <a:srgbClr val="3B1F5E"/>
            </a:solidFill>
            <a:prstDash val="solid"/>
          </a:ln>
        </p:spPr>
      </p:sp>
      <p:sp>
        <p:nvSpPr>
          <p:cNvPr id="5" name="Shape 3"/>
          <p:cNvSpPr/>
          <p:nvPr/>
        </p:nvSpPr>
        <p:spPr>
          <a:xfrm>
            <a:off x="8604504" y="4864608"/>
            <a:ext cx="59436" cy="59436"/>
          </a:xfrm>
          <a:prstGeom prst="rect">
            <a:avLst>
              <a:gd name="adj" fmla="val 50000"/>
            </a:avLst>
          </a:prstGeom>
          <a:solidFill>
            <a:srgbClr val="FFC83D"/>
          </a:solidFill>
          <a:ln w="12700">
            <a:solidFill>
              <a:srgbClr val="FFC83D"/>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SCURO">
    <p:bg>
      <p:bgPr>
        <a:solidFill>
          <a:srgbClr val="3B1F5E"/>
        </a:solidFill>
      </p:bgPr>
    </p:bg>
    <p:spTree>
      <p:nvGrpSpPr>
        <p:cNvPr id="1" name=""/>
        <p:cNvGrpSpPr/>
        <p:nvPr/>
      </p:nvGrpSpPr>
      <p:grpSpPr>
        <a:xfrm>
          <a:off x="0" y="0"/>
          <a:ext cx="0" cy="0"/>
          <a:chOff x="0" y="0"/>
          <a:chExt cx="0" cy="0"/>
        </a:xfrm>
      </p:grpSpPr>
      <p:sp>
        <p:nvSpPr>
          <p:cNvPr id="2" name="Shape 0"/>
          <p:cNvSpPr/>
          <p:nvPr/>
        </p:nvSpPr>
        <p:spPr>
          <a:xfrm>
            <a:off x="8321040" y="4846320"/>
            <a:ext cx="192024" cy="64008"/>
          </a:xfrm>
          <a:prstGeom prst="rect">
            <a:avLst>
              <a:gd name="adj" fmla="val 42857"/>
            </a:avLst>
          </a:prstGeom>
          <a:solidFill>
            <a:srgbClr val="B89BE0"/>
          </a:solidFill>
          <a:ln w="12700">
            <a:solidFill>
              <a:srgbClr val="B89BE0"/>
            </a:solidFill>
            <a:prstDash val="solid"/>
          </a:ln>
        </p:spPr>
      </p:sp>
      <p:sp>
        <p:nvSpPr>
          <p:cNvPr id="3" name="Shape 1"/>
          <p:cNvSpPr/>
          <p:nvPr/>
        </p:nvSpPr>
        <p:spPr>
          <a:xfrm>
            <a:off x="8366760" y="4764024"/>
            <a:ext cx="192024" cy="64008"/>
          </a:xfrm>
          <a:prstGeom prst="rect">
            <a:avLst>
              <a:gd name="adj" fmla="val 42857"/>
            </a:avLst>
          </a:prstGeom>
          <a:solidFill>
            <a:srgbClr val="FFFFFF"/>
          </a:solidFill>
          <a:ln w="12700">
            <a:solidFill>
              <a:srgbClr val="FFFFFF"/>
            </a:solidFill>
            <a:prstDash val="solid"/>
          </a:ln>
        </p:spPr>
      </p:sp>
      <p:sp>
        <p:nvSpPr>
          <p:cNvPr id="4" name="Shape 2"/>
          <p:cNvSpPr/>
          <p:nvPr/>
        </p:nvSpPr>
        <p:spPr>
          <a:xfrm>
            <a:off x="8412480" y="4681728"/>
            <a:ext cx="192024" cy="64008"/>
          </a:xfrm>
          <a:prstGeom prst="rect">
            <a:avLst>
              <a:gd name="adj" fmla="val 42857"/>
            </a:avLst>
          </a:prstGeom>
          <a:solidFill>
            <a:srgbClr val="FFFFFF"/>
          </a:solidFill>
          <a:ln w="12700">
            <a:solidFill>
              <a:srgbClr val="FFFFFF"/>
            </a:solidFill>
            <a:prstDash val="solid"/>
          </a:ln>
        </p:spPr>
      </p:sp>
      <p:sp>
        <p:nvSpPr>
          <p:cNvPr id="5" name="Shape 3"/>
          <p:cNvSpPr/>
          <p:nvPr/>
        </p:nvSpPr>
        <p:spPr>
          <a:xfrm>
            <a:off x="8604504" y="4864608"/>
            <a:ext cx="59436" cy="59436"/>
          </a:xfrm>
          <a:prstGeom prst="rect">
            <a:avLst>
              <a:gd name="adj" fmla="val 50000"/>
            </a:avLst>
          </a:prstGeom>
          <a:solidFill>
            <a:srgbClr val="FFC83D"/>
          </a:solidFill>
          <a:ln w="12700">
            <a:solidFill>
              <a:srgbClr val="FFC83D"/>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1737360"/>
            <a:ext cx="8229600" cy="82296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Arial" pitchFamily="34" charset="0"/>
                <a:ea typeface="Arial" pitchFamily="34" charset="-122"/>
                <a:cs typeface="Arial" pitchFamily="34" charset="-120"/>
              </a:rPr>
              <a:t>Proposta de honorários</a:t>
            </a:r>
            <a:endParaRPr lang="en-US" sz="3600" dirty="0"/>
          </a:p>
        </p:txBody>
      </p:sp>
      <p:sp>
        <p:nvSpPr>
          <p:cNvPr id="3" name="Text 1"/>
          <p:cNvSpPr txBox="1"/>
          <p:nvPr/>
        </p:nvSpPr>
        <p:spPr>
          <a:xfrm>
            <a:off x="457200" y="2606040"/>
            <a:ext cx="8229600" cy="365760"/>
          </a:xfrm>
          <a:prstGeom prst="rect">
            <a:avLst/>
          </a:prstGeom>
          <a:noFill/>
          <a:ln/>
        </p:spPr>
        <p:txBody>
          <a:bodyPr wrap="square" lIns="0" tIns="0" rIns="0" bIns="0" rtlCol="0" anchor="ctr"/>
          <a:lstStyle/>
          <a:p>
            <a:pPr indent="0" marL="0">
              <a:buNone/>
            </a:pPr>
            <a:r>
              <a:rPr lang="en-US" sz="1600" dirty="0">
                <a:solidFill>
                  <a:srgbClr val="B89BE0"/>
                </a:solidFill>
                <a:latin typeface="Arial" pitchFamily="34" charset="0"/>
                <a:ea typeface="Arial" pitchFamily="34" charset="-122"/>
                <a:cs typeface="Arial" pitchFamily="34" charset="-120"/>
              </a:rPr>
              <a:t>[Nome do cliente] · discussão sobre contrato de prestação de serviços · 14 de setembro de 2026</a:t>
            </a:r>
            <a:endParaRPr lang="en-US" sz="1600" dirty="0"/>
          </a:p>
        </p:txBody>
      </p:sp>
      <p:sp>
        <p:nvSpPr>
          <p:cNvPr id="4" name="Text 2"/>
          <p:cNvSpPr txBox="1"/>
          <p:nvPr/>
        </p:nvSpPr>
        <p:spPr>
          <a:xfrm>
            <a:off x="457200" y="3291840"/>
            <a:ext cx="7772400" cy="822960"/>
          </a:xfrm>
          <a:prstGeom prst="rect">
            <a:avLst/>
          </a:prstGeom>
          <a:noFill/>
          <a:ln/>
        </p:spPr>
        <p:txBody>
          <a:bodyPr wrap="square" lIns="0" tIns="0" rIns="0" bIns="0" rtlCol="0" anchor="t"/>
          <a:lstStyle/>
          <a:p>
            <a:pPr indent="0" marL="0">
              <a:buNone/>
            </a:pPr>
            <a:r>
              <a:rPr lang="en-US" sz="1400" i="1" dirty="0">
                <a:solidFill>
                  <a:srgbClr val="FFFFFF"/>
                </a:solidFill>
                <a:latin typeface="Arial" pitchFamily="34" charset="0"/>
                <a:ea typeface="Arial" pitchFamily="34" charset="-122"/>
                <a:cs typeface="Arial" pitchFamily="34" charset="-120"/>
              </a:rPr>
              <a:t>Preparada por Ferraz &amp; Lima Advocacia (exemplo fictício). Proposta nº 2026-023, válida por 15 dias, até 29 de setembro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400" b="1" dirty="0">
                <a:solidFill>
                  <a:srgbClr val="3B1F5E"/>
                </a:solidFill>
                <a:latin typeface="Arial" pitchFamily="34" charset="0"/>
                <a:ea typeface="Arial" pitchFamily="34" charset="-122"/>
                <a:cs typeface="Arial" pitchFamily="34" charset="-120"/>
              </a:rPr>
              <a:t>O que entendemos do seu caso</a:t>
            </a:r>
            <a:endParaRPr lang="en-US" sz="2400" dirty="0"/>
          </a:p>
        </p:txBody>
      </p:sp>
      <p:sp>
        <p:nvSpPr>
          <p:cNvPr id="3" name="Text 1"/>
          <p:cNvSpPr txBox="1"/>
          <p:nvPr/>
        </p:nvSpPr>
        <p:spPr>
          <a:xfrm>
            <a:off x="457200" y="1024128"/>
            <a:ext cx="8229600" cy="320040"/>
          </a:xfrm>
          <a:prstGeom prst="rect">
            <a:avLst/>
          </a:prstGeom>
          <a:noFill/>
          <a:ln/>
        </p:spPr>
        <p:txBody>
          <a:bodyPr wrap="square" lIns="0" tIns="0" rIns="0" bIns="0" rtlCol="0" anchor="ctr"/>
          <a:lstStyle/>
          <a:p>
            <a:pPr indent="0" marL="0">
              <a:buNone/>
            </a:pPr>
            <a:r>
              <a:rPr lang="en-US" sz="1200" dirty="0">
                <a:solidFill>
                  <a:srgbClr val="5A4A78"/>
                </a:solidFill>
                <a:latin typeface="Arial" pitchFamily="34" charset="0"/>
                <a:ea typeface="Arial" pitchFamily="34" charset="-122"/>
                <a:cs typeface="Arial" pitchFamily="34" charset="-120"/>
              </a:rPr>
              <a:t>Só o escopo, com as palavras usadas na reunião. Sem opinião sobre o mérito nesta proposta.</a:t>
            </a:r>
            <a:endParaRPr lang="en-US" sz="1200" dirty="0"/>
          </a:p>
        </p:txBody>
      </p:sp>
      <p:sp>
        <p:nvSpPr>
          <p:cNvPr id="4" name="Text 2"/>
          <p:cNvSpPr txBox="1"/>
          <p:nvPr/>
        </p:nvSpPr>
        <p:spPr>
          <a:xfrm>
            <a:off x="457200" y="1554480"/>
            <a:ext cx="8229600" cy="29260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F1235"/>
                </a:solidFill>
                <a:latin typeface="Arial" pitchFamily="34" charset="0"/>
                <a:ea typeface="Arial" pitchFamily="34" charset="-122"/>
                <a:cs typeface="Arial" pitchFamily="34" charset="-120"/>
              </a:rPr>
              <a:t>[Nome do cliente] tem uma divergência com [a outra parte] sobre um contrato de prestação de serviços; os documentos já estão reunidos.</a:t>
            </a:r>
            <a:endParaRPr lang="en-US" sz="1350" dirty="0"/>
          </a:p>
          <a:p>
            <a:pPr marL="342900" indent="-342900">
              <a:spcAft>
                <a:spcPts val="600"/>
              </a:spcAft>
              <a:buSzPct val="100000"/>
              <a:buChar char="•"/>
            </a:pPr>
            <a:r>
              <a:rPr lang="en-US" sz="1350" dirty="0">
                <a:solidFill>
                  <a:srgbClr val="1F1235"/>
                </a:solidFill>
                <a:latin typeface="Arial" pitchFamily="34" charset="0"/>
                <a:ea typeface="Arial" pitchFamily="34" charset="-122"/>
                <a:cs typeface="Arial" pitchFamily="34" charset="-120"/>
              </a:rPr>
              <a:t>O que se quer: [tentar primeiro um acordo e, se não houver, seguir com a discussão até a decisão].</a:t>
            </a:r>
            <a:endParaRPr lang="en-US" sz="1350" dirty="0"/>
          </a:p>
          <a:p>
            <a:pPr marL="342900" indent="-342900">
              <a:spcAft>
                <a:spcPts val="600"/>
              </a:spcAft>
              <a:buSzPct val="100000"/>
              <a:buChar char="•"/>
            </a:pPr>
            <a:r>
              <a:rPr lang="en-US" sz="1350" dirty="0">
                <a:solidFill>
                  <a:srgbClr val="1F1235"/>
                </a:solidFill>
                <a:latin typeface="Arial" pitchFamily="34" charset="0"/>
                <a:ea typeface="Arial" pitchFamily="34" charset="-122"/>
                <a:cs typeface="Arial" pitchFamily="34" charset="-120"/>
              </a:rPr>
              <a:t>O que importa para você: previsibilidade de custo, retorno periódico sobre o andamento e alguém que fale com a outra parte no seu lugar.</a:t>
            </a:r>
            <a:endParaRPr lang="en-US" sz="1350" dirty="0"/>
          </a:p>
          <a:p>
            <a:pPr marL="342900" indent="-342900">
              <a:spcAft>
                <a:spcPts val="600"/>
              </a:spcAft>
              <a:buSzPct val="100000"/>
              <a:buChar char="•"/>
            </a:pPr>
            <a:r>
              <a:rPr lang="en-US" sz="1350" dirty="0">
                <a:solidFill>
                  <a:srgbClr val="1F1235"/>
                </a:solidFill>
                <a:latin typeface="Arial" pitchFamily="34" charset="0"/>
                <a:ea typeface="Arial" pitchFamily="34" charset="-122"/>
                <a:cs typeface="Arial" pitchFamily="34" charset="-120"/>
              </a:rPr>
              <a:t>Fora deste escopo: [outros contratos e assuntos] (proposta à parte, se quiser).</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400" b="1" dirty="0">
                <a:solidFill>
                  <a:srgbClr val="3B1F5E"/>
                </a:solidFill>
                <a:latin typeface="Arial" pitchFamily="34" charset="0"/>
                <a:ea typeface="Arial" pitchFamily="34" charset="-122"/>
                <a:cs typeface="Arial" pitchFamily="34" charset="-120"/>
              </a:rPr>
              <a:t>Etapas e prazos estimados</a:t>
            </a:r>
            <a:endParaRPr lang="en-US" sz="2400" dirty="0"/>
          </a:p>
        </p:txBody>
      </p:sp>
      <p:sp>
        <p:nvSpPr>
          <p:cNvPr id="3" name="Text 1"/>
          <p:cNvSpPr txBox="1"/>
          <p:nvPr/>
        </p:nvSpPr>
        <p:spPr>
          <a:xfrm>
            <a:off x="457200" y="1024128"/>
            <a:ext cx="8229600" cy="320040"/>
          </a:xfrm>
          <a:prstGeom prst="rect">
            <a:avLst/>
          </a:prstGeom>
          <a:noFill/>
          <a:ln/>
        </p:spPr>
        <p:txBody>
          <a:bodyPr wrap="square" lIns="0" tIns="0" rIns="0" bIns="0" rtlCol="0" anchor="ctr"/>
          <a:lstStyle/>
          <a:p>
            <a:pPr indent="0" marL="0">
              <a:buNone/>
            </a:pPr>
            <a:r>
              <a:rPr lang="en-US" sz="1200" dirty="0">
                <a:solidFill>
                  <a:srgbClr val="5A4A78"/>
                </a:solidFill>
                <a:latin typeface="Arial" pitchFamily="34" charset="0"/>
                <a:ea typeface="Arial" pitchFamily="34" charset="-122"/>
                <a:cs typeface="Arial" pitchFamily="34" charset="-120"/>
              </a:rPr>
              <a:t>Quatro etapas, as mesmas da proposta em PDF. Os prazos dependem da outra parte e do andamento: são estimativas.</a:t>
            </a:r>
            <a:endParaRPr lang="en-US" sz="1200" dirty="0"/>
          </a:p>
        </p:txBody>
      </p:sp>
      <p:sp>
        <p:nvSpPr>
          <p:cNvPr id="4" name="Shape 2"/>
          <p:cNvSpPr/>
          <p:nvPr/>
        </p:nvSpPr>
        <p:spPr>
          <a:xfrm>
            <a:off x="457200" y="1600200"/>
            <a:ext cx="1920240" cy="2514600"/>
          </a:xfrm>
          <a:prstGeom prst="roundRect">
            <a:avLst>
              <a:gd name="adj" fmla="val 5714"/>
            </a:avLst>
          </a:prstGeom>
          <a:solidFill>
            <a:srgbClr val="F3EEFB"/>
          </a:solidFill>
          <a:ln w="12700">
            <a:solidFill>
              <a:srgbClr val="F3EEFB"/>
            </a:solidFill>
            <a:prstDash val="solid"/>
          </a:ln>
        </p:spPr>
      </p:sp>
      <p:sp>
        <p:nvSpPr>
          <p:cNvPr id="5" name="Text 3"/>
          <p:cNvSpPr txBox="1"/>
          <p:nvPr/>
        </p:nvSpPr>
        <p:spPr>
          <a:xfrm>
            <a:off x="640080" y="1737360"/>
            <a:ext cx="548640" cy="457200"/>
          </a:xfrm>
          <a:prstGeom prst="rect">
            <a:avLst/>
          </a:prstGeom>
          <a:noFill/>
          <a:ln/>
        </p:spPr>
        <p:txBody>
          <a:bodyPr wrap="square" lIns="0" tIns="0" rIns="0" bIns="0" rtlCol="0" anchor="ctr"/>
          <a:lstStyle/>
          <a:p>
            <a:pPr indent="0" marL="0">
              <a:buNone/>
            </a:pPr>
            <a:r>
              <a:rPr lang="en-US" sz="2200" b="1" dirty="0">
                <a:solidFill>
                  <a:srgbClr val="7A5AA8"/>
                </a:solidFill>
                <a:latin typeface="Arial" pitchFamily="34" charset="0"/>
                <a:ea typeface="Arial" pitchFamily="34" charset="-122"/>
                <a:cs typeface="Arial" pitchFamily="34" charset="-120"/>
              </a:rPr>
              <a:t>1</a:t>
            </a:r>
            <a:endParaRPr lang="en-US" sz="2200" dirty="0"/>
          </a:p>
        </p:txBody>
      </p:sp>
      <p:sp>
        <p:nvSpPr>
          <p:cNvPr id="6" name="Text 4"/>
          <p:cNvSpPr txBox="1"/>
          <p:nvPr/>
        </p:nvSpPr>
        <p:spPr>
          <a:xfrm>
            <a:off x="640080" y="2240280"/>
            <a:ext cx="1645920" cy="548640"/>
          </a:xfrm>
          <a:prstGeom prst="rect">
            <a:avLst/>
          </a:prstGeom>
          <a:noFill/>
          <a:ln/>
        </p:spPr>
        <p:txBody>
          <a:bodyPr wrap="square" lIns="0" tIns="0" rIns="0" bIns="0" rtlCol="0" anchor="t">
            <a:normAutofit/>
          </a:bodyPr>
          <a:lstStyle/>
          <a:p>
            <a:pPr indent="0" marL="0">
              <a:buNone/>
            </a:pPr>
            <a:r>
              <a:rPr lang="en-US" sz="1300" b="1" dirty="0">
                <a:solidFill>
                  <a:srgbClr val="3B1F5E"/>
                </a:solidFill>
                <a:latin typeface="Arial" pitchFamily="34" charset="0"/>
                <a:ea typeface="Arial" pitchFamily="34" charset="-122"/>
                <a:cs typeface="Arial" pitchFamily="34" charset="-120"/>
              </a:rPr>
              <a:t>Análise inicial e planejamento</a:t>
            </a:r>
            <a:endParaRPr lang="en-US" sz="1300" dirty="0"/>
          </a:p>
        </p:txBody>
      </p:sp>
      <p:sp>
        <p:nvSpPr>
          <p:cNvPr id="7" name="Text 5"/>
          <p:cNvSpPr txBox="1"/>
          <p:nvPr/>
        </p:nvSpPr>
        <p:spPr>
          <a:xfrm>
            <a:off x="640080" y="2788920"/>
            <a:ext cx="1645920" cy="320040"/>
          </a:xfrm>
          <a:prstGeom prst="rect">
            <a:avLst/>
          </a:prstGeom>
          <a:noFill/>
          <a:ln/>
        </p:spPr>
        <p:txBody>
          <a:bodyPr wrap="square" lIns="0" tIns="0" rIns="0" bIns="0" rtlCol="0" anchor="t"/>
          <a:lstStyle/>
          <a:p>
            <a:pPr indent="0" marL="0">
              <a:buNone/>
            </a:pPr>
            <a:r>
              <a:rPr lang="en-US" sz="950" dirty="0">
                <a:solidFill>
                  <a:srgbClr val="5A4A78"/>
                </a:solidFill>
                <a:latin typeface="Arial" pitchFamily="34" charset="0"/>
                <a:ea typeface="Arial" pitchFamily="34" charset="-122"/>
                <a:cs typeface="Arial" pitchFamily="34" charset="-120"/>
              </a:rPr>
              <a:t>até 15 dias</a:t>
            </a:r>
            <a:endParaRPr lang="en-US" sz="950" dirty="0"/>
          </a:p>
        </p:txBody>
      </p:sp>
      <p:sp>
        <p:nvSpPr>
          <p:cNvPr id="8" name="Text 6"/>
          <p:cNvSpPr txBox="1"/>
          <p:nvPr/>
        </p:nvSpPr>
        <p:spPr>
          <a:xfrm>
            <a:off x="640080" y="3108960"/>
            <a:ext cx="1645920" cy="960120"/>
          </a:xfrm>
          <a:prstGeom prst="rect">
            <a:avLst/>
          </a:prstGeom>
          <a:noFill/>
          <a:ln/>
        </p:spPr>
        <p:txBody>
          <a:bodyPr wrap="square" lIns="0" tIns="0" rIns="0" bIns="0" rtlCol="0" anchor="t"/>
          <a:lstStyle/>
          <a:p>
            <a:pPr indent="0" marL="0">
              <a:buNone/>
            </a:pPr>
            <a:r>
              <a:rPr lang="en-US" sz="1050" dirty="0">
                <a:solidFill>
                  <a:srgbClr val="1F1235"/>
                </a:solidFill>
                <a:latin typeface="Arial" pitchFamily="34" charset="0"/>
                <a:ea typeface="Arial" pitchFamily="34" charset="-122"/>
                <a:cs typeface="Arial" pitchFamily="34" charset="-120"/>
              </a:rPr>
              <a:t>reunião, leitura dos documentos e definição da estratégia</a:t>
            </a:r>
            <a:endParaRPr lang="en-US" sz="1050" dirty="0"/>
          </a:p>
        </p:txBody>
      </p:sp>
      <p:sp>
        <p:nvSpPr>
          <p:cNvPr id="9" name="Shape 7"/>
          <p:cNvSpPr/>
          <p:nvPr/>
        </p:nvSpPr>
        <p:spPr>
          <a:xfrm>
            <a:off x="2560320" y="1600200"/>
            <a:ext cx="1920240" cy="2514600"/>
          </a:xfrm>
          <a:prstGeom prst="roundRect">
            <a:avLst>
              <a:gd name="adj" fmla="val 5714"/>
            </a:avLst>
          </a:prstGeom>
          <a:solidFill>
            <a:srgbClr val="F3EEFB"/>
          </a:solidFill>
          <a:ln w="12700">
            <a:solidFill>
              <a:srgbClr val="F3EEFB"/>
            </a:solidFill>
            <a:prstDash val="solid"/>
          </a:ln>
        </p:spPr>
      </p:sp>
      <p:sp>
        <p:nvSpPr>
          <p:cNvPr id="10" name="Text 8"/>
          <p:cNvSpPr txBox="1"/>
          <p:nvPr/>
        </p:nvSpPr>
        <p:spPr>
          <a:xfrm>
            <a:off x="2743200" y="1737360"/>
            <a:ext cx="548640" cy="457200"/>
          </a:xfrm>
          <a:prstGeom prst="rect">
            <a:avLst/>
          </a:prstGeom>
          <a:noFill/>
          <a:ln/>
        </p:spPr>
        <p:txBody>
          <a:bodyPr wrap="square" lIns="0" tIns="0" rIns="0" bIns="0" rtlCol="0" anchor="ctr"/>
          <a:lstStyle/>
          <a:p>
            <a:pPr indent="0" marL="0">
              <a:buNone/>
            </a:pPr>
            <a:r>
              <a:rPr lang="en-US" sz="2200" b="1" dirty="0">
                <a:solidFill>
                  <a:srgbClr val="7A5AA8"/>
                </a:solidFill>
                <a:latin typeface="Arial" pitchFamily="34" charset="0"/>
                <a:ea typeface="Arial" pitchFamily="34" charset="-122"/>
                <a:cs typeface="Arial" pitchFamily="34" charset="-120"/>
              </a:rPr>
              <a:t>2</a:t>
            </a:r>
            <a:endParaRPr lang="en-US" sz="2200" dirty="0"/>
          </a:p>
        </p:txBody>
      </p:sp>
      <p:sp>
        <p:nvSpPr>
          <p:cNvPr id="11" name="Text 9"/>
          <p:cNvSpPr txBox="1"/>
          <p:nvPr/>
        </p:nvSpPr>
        <p:spPr>
          <a:xfrm>
            <a:off x="2743200" y="2240280"/>
            <a:ext cx="1645920" cy="548640"/>
          </a:xfrm>
          <a:prstGeom prst="rect">
            <a:avLst/>
          </a:prstGeom>
          <a:noFill/>
          <a:ln/>
        </p:spPr>
        <p:txBody>
          <a:bodyPr wrap="square" lIns="0" tIns="0" rIns="0" bIns="0" rtlCol="0" anchor="t">
            <a:normAutofit/>
          </a:bodyPr>
          <a:lstStyle/>
          <a:p>
            <a:pPr indent="0" marL="0">
              <a:buNone/>
            </a:pPr>
            <a:r>
              <a:rPr lang="en-US" sz="1300" b="1" dirty="0">
                <a:solidFill>
                  <a:srgbClr val="3B1F5E"/>
                </a:solidFill>
                <a:latin typeface="Arial" pitchFamily="34" charset="0"/>
                <a:ea typeface="Arial" pitchFamily="34" charset="-122"/>
                <a:cs typeface="Arial" pitchFamily="34" charset="-120"/>
              </a:rPr>
              <a:t>Fase inicial</a:t>
            </a:r>
            <a:endParaRPr lang="en-US" sz="1300" dirty="0"/>
          </a:p>
        </p:txBody>
      </p:sp>
      <p:sp>
        <p:nvSpPr>
          <p:cNvPr id="12" name="Text 10"/>
          <p:cNvSpPr txBox="1"/>
          <p:nvPr/>
        </p:nvSpPr>
        <p:spPr>
          <a:xfrm>
            <a:off x="2743200" y="2788920"/>
            <a:ext cx="1645920" cy="320040"/>
          </a:xfrm>
          <a:prstGeom prst="rect">
            <a:avLst/>
          </a:prstGeom>
          <a:noFill/>
          <a:ln/>
        </p:spPr>
        <p:txBody>
          <a:bodyPr wrap="square" lIns="0" tIns="0" rIns="0" bIns="0" rtlCol="0" anchor="t"/>
          <a:lstStyle/>
          <a:p>
            <a:pPr indent="0" marL="0">
              <a:buNone/>
            </a:pPr>
            <a:r>
              <a:rPr lang="en-US" sz="950" dirty="0">
                <a:solidFill>
                  <a:srgbClr val="5A4A78"/>
                </a:solidFill>
                <a:latin typeface="Arial" pitchFamily="34" charset="0"/>
                <a:ea typeface="Arial" pitchFamily="34" charset="-122"/>
                <a:cs typeface="Arial" pitchFamily="34" charset="-120"/>
              </a:rPr>
              <a:t>até 60 dias</a:t>
            </a:r>
            <a:endParaRPr lang="en-US" sz="950" dirty="0"/>
          </a:p>
        </p:txBody>
      </p:sp>
      <p:sp>
        <p:nvSpPr>
          <p:cNvPr id="13" name="Text 11"/>
          <p:cNvSpPr txBox="1"/>
          <p:nvPr/>
        </p:nvSpPr>
        <p:spPr>
          <a:xfrm>
            <a:off x="2743200" y="3108960"/>
            <a:ext cx="1645920" cy="960120"/>
          </a:xfrm>
          <a:prstGeom prst="rect">
            <a:avLst/>
          </a:prstGeom>
          <a:noFill/>
          <a:ln/>
        </p:spPr>
        <p:txBody>
          <a:bodyPr wrap="square" lIns="0" tIns="0" rIns="0" bIns="0" rtlCol="0" anchor="t"/>
          <a:lstStyle/>
          <a:p>
            <a:pPr indent="0" marL="0">
              <a:buNone/>
            </a:pPr>
            <a:r>
              <a:rPr lang="en-US" sz="1050" dirty="0">
                <a:solidFill>
                  <a:srgbClr val="1F1235"/>
                </a:solidFill>
                <a:latin typeface="Arial" pitchFamily="34" charset="0"/>
                <a:ea typeface="Arial" pitchFamily="34" charset="-122"/>
                <a:cs typeface="Arial" pitchFamily="34" charset="-120"/>
              </a:rPr>
              <a:t>redação e protocolo do pedido, acompanhamento das primeiras respostas</a:t>
            </a:r>
            <a:endParaRPr lang="en-US" sz="1050" dirty="0"/>
          </a:p>
        </p:txBody>
      </p:sp>
      <p:sp>
        <p:nvSpPr>
          <p:cNvPr id="14" name="Shape 12"/>
          <p:cNvSpPr/>
          <p:nvPr/>
        </p:nvSpPr>
        <p:spPr>
          <a:xfrm>
            <a:off x="4663440" y="1600200"/>
            <a:ext cx="1920240" cy="2514600"/>
          </a:xfrm>
          <a:prstGeom prst="roundRect">
            <a:avLst>
              <a:gd name="adj" fmla="val 5714"/>
            </a:avLst>
          </a:prstGeom>
          <a:solidFill>
            <a:srgbClr val="FFC83D"/>
          </a:solidFill>
          <a:ln w="12700">
            <a:solidFill>
              <a:srgbClr val="FFC83D"/>
            </a:solidFill>
            <a:prstDash val="solid"/>
          </a:ln>
        </p:spPr>
      </p:sp>
      <p:sp>
        <p:nvSpPr>
          <p:cNvPr id="15" name="Text 13"/>
          <p:cNvSpPr txBox="1"/>
          <p:nvPr/>
        </p:nvSpPr>
        <p:spPr>
          <a:xfrm>
            <a:off x="4846320" y="1737360"/>
            <a:ext cx="548640" cy="457200"/>
          </a:xfrm>
          <a:prstGeom prst="rect">
            <a:avLst/>
          </a:prstGeom>
          <a:noFill/>
          <a:ln/>
        </p:spPr>
        <p:txBody>
          <a:bodyPr wrap="square" lIns="0" tIns="0" rIns="0" bIns="0" rtlCol="0" anchor="ctr"/>
          <a:lstStyle/>
          <a:p>
            <a:pPr indent="0" marL="0">
              <a:buNone/>
            </a:pPr>
            <a:r>
              <a:rPr lang="en-US" sz="2200" b="1" dirty="0">
                <a:solidFill>
                  <a:srgbClr val="7A5AA8"/>
                </a:solidFill>
                <a:latin typeface="Arial" pitchFamily="34" charset="0"/>
                <a:ea typeface="Arial" pitchFamily="34" charset="-122"/>
                <a:cs typeface="Arial" pitchFamily="34" charset="-120"/>
              </a:rPr>
              <a:t>3</a:t>
            </a:r>
            <a:endParaRPr lang="en-US" sz="2200" dirty="0"/>
          </a:p>
        </p:txBody>
      </p:sp>
      <p:sp>
        <p:nvSpPr>
          <p:cNvPr id="16" name="Text 14"/>
          <p:cNvSpPr txBox="1"/>
          <p:nvPr/>
        </p:nvSpPr>
        <p:spPr>
          <a:xfrm>
            <a:off x="4846320" y="2240280"/>
            <a:ext cx="1645920" cy="548640"/>
          </a:xfrm>
          <a:prstGeom prst="rect">
            <a:avLst/>
          </a:prstGeom>
          <a:noFill/>
          <a:ln/>
        </p:spPr>
        <p:txBody>
          <a:bodyPr wrap="square" lIns="0" tIns="0" rIns="0" bIns="0" rtlCol="0" anchor="t">
            <a:normAutofit/>
          </a:bodyPr>
          <a:lstStyle/>
          <a:p>
            <a:pPr indent="0" marL="0">
              <a:buNone/>
            </a:pPr>
            <a:r>
              <a:rPr lang="en-US" sz="1300" b="1" dirty="0">
                <a:solidFill>
                  <a:srgbClr val="3B1F5E"/>
                </a:solidFill>
                <a:latin typeface="Arial" pitchFamily="34" charset="0"/>
                <a:ea typeface="Arial" pitchFamily="34" charset="-122"/>
                <a:cs typeface="Arial" pitchFamily="34" charset="-120"/>
              </a:rPr>
              <a:t>Acompanhamento até a decisão</a:t>
            </a:r>
            <a:endParaRPr lang="en-US" sz="1300" dirty="0"/>
          </a:p>
        </p:txBody>
      </p:sp>
      <p:sp>
        <p:nvSpPr>
          <p:cNvPr id="17" name="Text 15"/>
          <p:cNvSpPr txBox="1"/>
          <p:nvPr/>
        </p:nvSpPr>
        <p:spPr>
          <a:xfrm>
            <a:off x="4846320" y="2788920"/>
            <a:ext cx="1645920" cy="320040"/>
          </a:xfrm>
          <a:prstGeom prst="rect">
            <a:avLst/>
          </a:prstGeom>
          <a:noFill/>
          <a:ln/>
        </p:spPr>
        <p:txBody>
          <a:bodyPr wrap="square" lIns="0" tIns="0" rIns="0" bIns="0" rtlCol="0" anchor="t"/>
          <a:lstStyle/>
          <a:p>
            <a:pPr indent="0" marL="0">
              <a:buNone/>
            </a:pPr>
            <a:r>
              <a:rPr lang="en-US" sz="950" dirty="0">
                <a:solidFill>
                  <a:srgbClr val="5A4A78"/>
                </a:solidFill>
                <a:latin typeface="Arial" pitchFamily="34" charset="0"/>
                <a:ea typeface="Arial" pitchFamily="34" charset="-122"/>
                <a:cs typeface="Arial" pitchFamily="34" charset="-120"/>
              </a:rPr>
              <a:t>durante o caso</a:t>
            </a:r>
            <a:endParaRPr lang="en-US" sz="950" dirty="0"/>
          </a:p>
        </p:txBody>
      </p:sp>
      <p:sp>
        <p:nvSpPr>
          <p:cNvPr id="18" name="Text 16"/>
          <p:cNvSpPr txBox="1"/>
          <p:nvPr/>
        </p:nvSpPr>
        <p:spPr>
          <a:xfrm>
            <a:off x="4846320" y="3108960"/>
            <a:ext cx="1645920" cy="960120"/>
          </a:xfrm>
          <a:prstGeom prst="rect">
            <a:avLst/>
          </a:prstGeom>
          <a:noFill/>
          <a:ln/>
        </p:spPr>
        <p:txBody>
          <a:bodyPr wrap="square" lIns="0" tIns="0" rIns="0" bIns="0" rtlCol="0" anchor="t"/>
          <a:lstStyle/>
          <a:p>
            <a:pPr indent="0" marL="0">
              <a:buNone/>
            </a:pPr>
            <a:r>
              <a:rPr lang="en-US" sz="1050" dirty="0">
                <a:solidFill>
                  <a:srgbClr val="1F1235"/>
                </a:solidFill>
                <a:latin typeface="Arial" pitchFamily="34" charset="0"/>
                <a:ea typeface="Arial" pitchFamily="34" charset="-122"/>
                <a:cs typeface="Arial" pitchFamily="34" charset="-120"/>
              </a:rPr>
              <a:t>manifestações, audiências e reuniões com você</a:t>
            </a:r>
            <a:endParaRPr lang="en-US" sz="1050" dirty="0"/>
          </a:p>
        </p:txBody>
      </p:sp>
      <p:sp>
        <p:nvSpPr>
          <p:cNvPr id="19" name="Shape 17"/>
          <p:cNvSpPr/>
          <p:nvPr/>
        </p:nvSpPr>
        <p:spPr>
          <a:xfrm>
            <a:off x="6766560" y="1600200"/>
            <a:ext cx="1920240" cy="2514600"/>
          </a:xfrm>
          <a:prstGeom prst="roundRect">
            <a:avLst>
              <a:gd name="adj" fmla="val 5714"/>
            </a:avLst>
          </a:prstGeom>
          <a:solidFill>
            <a:srgbClr val="F3EEFB"/>
          </a:solidFill>
          <a:ln w="12700">
            <a:solidFill>
              <a:srgbClr val="F3EEFB"/>
            </a:solidFill>
            <a:prstDash val="solid"/>
          </a:ln>
        </p:spPr>
      </p:sp>
      <p:sp>
        <p:nvSpPr>
          <p:cNvPr id="20" name="Text 18"/>
          <p:cNvSpPr txBox="1"/>
          <p:nvPr/>
        </p:nvSpPr>
        <p:spPr>
          <a:xfrm>
            <a:off x="6949440" y="1737360"/>
            <a:ext cx="548640" cy="457200"/>
          </a:xfrm>
          <a:prstGeom prst="rect">
            <a:avLst/>
          </a:prstGeom>
          <a:noFill/>
          <a:ln/>
        </p:spPr>
        <p:txBody>
          <a:bodyPr wrap="square" lIns="0" tIns="0" rIns="0" bIns="0" rtlCol="0" anchor="ctr"/>
          <a:lstStyle/>
          <a:p>
            <a:pPr indent="0" marL="0">
              <a:buNone/>
            </a:pPr>
            <a:r>
              <a:rPr lang="en-US" sz="2200" b="1" dirty="0">
                <a:solidFill>
                  <a:srgbClr val="7A5AA8"/>
                </a:solidFill>
                <a:latin typeface="Arial" pitchFamily="34" charset="0"/>
                <a:ea typeface="Arial" pitchFamily="34" charset="-122"/>
                <a:cs typeface="Arial" pitchFamily="34" charset="-120"/>
              </a:rPr>
              <a:t>4</a:t>
            </a:r>
            <a:endParaRPr lang="en-US" sz="2200" dirty="0"/>
          </a:p>
        </p:txBody>
      </p:sp>
      <p:sp>
        <p:nvSpPr>
          <p:cNvPr id="21" name="Text 19"/>
          <p:cNvSpPr txBox="1"/>
          <p:nvPr/>
        </p:nvSpPr>
        <p:spPr>
          <a:xfrm>
            <a:off x="6949440" y="2240280"/>
            <a:ext cx="1645920" cy="548640"/>
          </a:xfrm>
          <a:prstGeom prst="rect">
            <a:avLst/>
          </a:prstGeom>
          <a:noFill/>
          <a:ln/>
        </p:spPr>
        <p:txBody>
          <a:bodyPr wrap="square" lIns="0" tIns="0" rIns="0" bIns="0" rtlCol="0" anchor="t">
            <a:normAutofit/>
          </a:bodyPr>
          <a:lstStyle/>
          <a:p>
            <a:pPr indent="0" marL="0">
              <a:buNone/>
            </a:pPr>
            <a:r>
              <a:rPr lang="en-US" sz="1300" b="1" dirty="0">
                <a:solidFill>
                  <a:srgbClr val="3B1F5E"/>
                </a:solidFill>
                <a:latin typeface="Arial" pitchFamily="34" charset="0"/>
                <a:ea typeface="Arial" pitchFamily="34" charset="-122"/>
                <a:cs typeface="Arial" pitchFamily="34" charset="-120"/>
              </a:rPr>
              <a:t>Encerramento</a:t>
            </a:r>
            <a:endParaRPr lang="en-US" sz="1300" dirty="0"/>
          </a:p>
        </p:txBody>
      </p:sp>
      <p:sp>
        <p:nvSpPr>
          <p:cNvPr id="22" name="Text 20"/>
          <p:cNvSpPr txBox="1"/>
          <p:nvPr/>
        </p:nvSpPr>
        <p:spPr>
          <a:xfrm>
            <a:off x="6949440" y="2788920"/>
            <a:ext cx="1645920" cy="320040"/>
          </a:xfrm>
          <a:prstGeom prst="rect">
            <a:avLst/>
          </a:prstGeom>
          <a:noFill/>
          <a:ln/>
        </p:spPr>
        <p:txBody>
          <a:bodyPr wrap="square" lIns="0" tIns="0" rIns="0" bIns="0" rtlCol="0" anchor="t"/>
          <a:lstStyle/>
          <a:p>
            <a:pPr indent="0" marL="0">
              <a:buNone/>
            </a:pPr>
            <a:r>
              <a:rPr lang="en-US" sz="950" dirty="0">
                <a:solidFill>
                  <a:srgbClr val="5A4A78"/>
                </a:solidFill>
                <a:latin typeface="Arial" pitchFamily="34" charset="0"/>
                <a:ea typeface="Arial" pitchFamily="34" charset="-122"/>
                <a:cs typeface="Arial" pitchFamily="34" charset="-120"/>
              </a:rPr>
              <a:t>ao fim do caso</a:t>
            </a:r>
            <a:endParaRPr lang="en-US" sz="950" dirty="0"/>
          </a:p>
        </p:txBody>
      </p:sp>
      <p:sp>
        <p:nvSpPr>
          <p:cNvPr id="23" name="Text 21"/>
          <p:cNvSpPr txBox="1"/>
          <p:nvPr/>
        </p:nvSpPr>
        <p:spPr>
          <a:xfrm>
            <a:off x="6949440" y="3108960"/>
            <a:ext cx="1645920" cy="960120"/>
          </a:xfrm>
          <a:prstGeom prst="rect">
            <a:avLst/>
          </a:prstGeom>
          <a:noFill/>
          <a:ln/>
        </p:spPr>
        <p:txBody>
          <a:bodyPr wrap="square" lIns="0" tIns="0" rIns="0" bIns="0" rtlCol="0" anchor="t"/>
          <a:lstStyle/>
          <a:p>
            <a:pPr indent="0" marL="0">
              <a:buNone/>
            </a:pPr>
            <a:r>
              <a:rPr lang="en-US" sz="1050" dirty="0">
                <a:solidFill>
                  <a:srgbClr val="1F1235"/>
                </a:solidFill>
                <a:latin typeface="Arial" pitchFamily="34" charset="0"/>
                <a:ea typeface="Arial" pitchFamily="34" charset="-122"/>
                <a:cs typeface="Arial" pitchFamily="34" charset="-120"/>
              </a:rPr>
              <a:t>prestação de contas e organização dos documentos finais</a:t>
            </a:r>
            <a:endParaRPr lang="en-US" sz="1050" dirty="0"/>
          </a:p>
        </p:txBody>
      </p:sp>
      <p:sp>
        <p:nvSpPr>
          <p:cNvPr id="24" name="Text 22"/>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050" dirty="0">
                <a:solidFill>
                  <a:srgbClr val="5A4A78"/>
                </a:solidFill>
                <a:latin typeface="Arial" pitchFamily="34" charset="0"/>
                <a:ea typeface="Arial" pitchFamily="34" charset="-122"/>
                <a:cs typeface="Arial" pitchFamily="34" charset="-120"/>
              </a:rPr>
              <a:t>A etapa destacada é a mais longa. Se houver acordo antes, o trabalho termina ali e a prestação de contas é feita na etapa 4.</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400" b="1" dirty="0">
                <a:solidFill>
                  <a:srgbClr val="3B1F5E"/>
                </a:solidFill>
                <a:latin typeface="Arial" pitchFamily="34" charset="0"/>
                <a:ea typeface="Arial" pitchFamily="34" charset="-122"/>
                <a:cs typeface="Arial" pitchFamily="34" charset="-120"/>
              </a:rPr>
              <a:t>Quem cuida do caso</a:t>
            </a:r>
            <a:endParaRPr lang="en-US" sz="2400" dirty="0"/>
          </a:p>
        </p:txBody>
      </p:sp>
      <p:sp>
        <p:nvSpPr>
          <p:cNvPr id="3" name="Text 1"/>
          <p:cNvSpPr txBox="1"/>
          <p:nvPr/>
        </p:nvSpPr>
        <p:spPr>
          <a:xfrm>
            <a:off x="457200" y="1024128"/>
            <a:ext cx="8229600" cy="320040"/>
          </a:xfrm>
          <a:prstGeom prst="rect">
            <a:avLst/>
          </a:prstGeom>
          <a:noFill/>
          <a:ln/>
        </p:spPr>
        <p:txBody>
          <a:bodyPr wrap="square" lIns="0" tIns="0" rIns="0" bIns="0" rtlCol="0" anchor="ctr"/>
          <a:lstStyle/>
          <a:p>
            <a:pPr indent="0" marL="0">
              <a:buNone/>
            </a:pPr>
            <a:r>
              <a:rPr lang="en-US" sz="1200" dirty="0">
                <a:solidFill>
                  <a:srgbClr val="5A4A78"/>
                </a:solidFill>
                <a:latin typeface="Arial" pitchFamily="34" charset="0"/>
                <a:ea typeface="Arial" pitchFamily="34" charset="-122"/>
                <a:cs typeface="Arial" pitchFamily="34" charset="-120"/>
              </a:rPr>
              <a:t>Uma responsável, um sócio de apoio e uma estagiária. Você sempre sabe com quem falar.</a:t>
            </a:r>
            <a:endParaRPr lang="en-US" sz="1200" dirty="0"/>
          </a:p>
        </p:txBody>
      </p:sp>
      <p:sp>
        <p:nvSpPr>
          <p:cNvPr id="4" name="Shape 2"/>
          <p:cNvSpPr/>
          <p:nvPr/>
        </p:nvSpPr>
        <p:spPr>
          <a:xfrm>
            <a:off x="457200" y="1508760"/>
            <a:ext cx="8229600" cy="777240"/>
          </a:xfrm>
          <a:prstGeom prst="roundRect">
            <a:avLst>
              <a:gd name="adj" fmla="val 11765"/>
            </a:avLst>
          </a:prstGeom>
          <a:solidFill>
            <a:srgbClr val="F3EEFB"/>
          </a:solidFill>
          <a:ln w="12700">
            <a:solidFill>
              <a:srgbClr val="F3EEFB"/>
            </a:solidFill>
            <a:prstDash val="solid"/>
          </a:ln>
        </p:spPr>
      </p:sp>
      <p:sp>
        <p:nvSpPr>
          <p:cNvPr id="5" name="Text 3"/>
          <p:cNvSpPr txBox="1"/>
          <p:nvPr/>
        </p:nvSpPr>
        <p:spPr>
          <a:xfrm>
            <a:off x="640080" y="1600200"/>
            <a:ext cx="2011680" cy="594360"/>
          </a:xfrm>
          <a:prstGeom prst="rect">
            <a:avLst/>
          </a:prstGeom>
          <a:noFill/>
          <a:ln/>
        </p:spPr>
        <p:txBody>
          <a:bodyPr wrap="square" lIns="0" tIns="0" rIns="0" bIns="0" rtlCol="0" anchor="ctr"/>
          <a:lstStyle/>
          <a:p>
            <a:pPr indent="0" marL="0">
              <a:buNone/>
            </a:pPr>
            <a:r>
              <a:rPr lang="en-US" sz="1300" b="1" dirty="0">
                <a:solidFill>
                  <a:srgbClr val="3B1F5E"/>
                </a:solidFill>
                <a:latin typeface="Arial" pitchFamily="34" charset="0"/>
                <a:ea typeface="Arial" pitchFamily="34" charset="-122"/>
                <a:cs typeface="Arial" pitchFamily="34" charset="-120"/>
              </a:rPr>
              <a:t>Marina Ferraz</a:t>
            </a:r>
            <a:endParaRPr lang="en-US" sz="1300" dirty="0"/>
          </a:p>
        </p:txBody>
      </p:sp>
      <p:sp>
        <p:nvSpPr>
          <p:cNvPr id="6" name="Text 4"/>
          <p:cNvSpPr txBox="1"/>
          <p:nvPr/>
        </p:nvSpPr>
        <p:spPr>
          <a:xfrm>
            <a:off x="2697480" y="1600200"/>
            <a:ext cx="2103120" cy="594360"/>
          </a:xfrm>
          <a:prstGeom prst="rect">
            <a:avLst/>
          </a:prstGeom>
          <a:noFill/>
          <a:ln/>
        </p:spPr>
        <p:txBody>
          <a:bodyPr wrap="square" lIns="0" tIns="0" rIns="0" bIns="0" rtlCol="0" anchor="ctr"/>
          <a:lstStyle/>
          <a:p>
            <a:pPr indent="0" marL="0">
              <a:buNone/>
            </a:pPr>
            <a:r>
              <a:rPr lang="en-US" sz="1050" dirty="0">
                <a:solidFill>
                  <a:srgbClr val="5A4A78"/>
                </a:solidFill>
                <a:latin typeface="Arial" pitchFamily="34" charset="0"/>
                <a:ea typeface="Arial" pitchFamily="34" charset="-122"/>
                <a:cs typeface="Arial" pitchFamily="34" charset="-120"/>
              </a:rPr>
              <a:t>Sócia responsável · cível e empresarial</a:t>
            </a:r>
            <a:endParaRPr lang="en-US" sz="1050" dirty="0"/>
          </a:p>
        </p:txBody>
      </p:sp>
      <p:sp>
        <p:nvSpPr>
          <p:cNvPr id="7" name="Text 5"/>
          <p:cNvSpPr txBox="1"/>
          <p:nvPr/>
        </p:nvSpPr>
        <p:spPr>
          <a:xfrm>
            <a:off x="4892040" y="1600200"/>
            <a:ext cx="3611880" cy="594360"/>
          </a:xfrm>
          <a:prstGeom prst="rect">
            <a:avLst/>
          </a:prstGeom>
          <a:noFill/>
          <a:ln/>
        </p:spPr>
        <p:txBody>
          <a:bodyPr wrap="square" lIns="0" tIns="0" rIns="0" bIns="0" rtlCol="0" anchor="ctr"/>
          <a:lstStyle/>
          <a:p>
            <a:pPr indent="0" marL="0">
              <a:buNone/>
            </a:pPr>
            <a:r>
              <a:rPr lang="en-US" sz="1050" dirty="0">
                <a:solidFill>
                  <a:srgbClr val="1F1235"/>
                </a:solidFill>
                <a:latin typeface="Arial" pitchFamily="34" charset="0"/>
                <a:ea typeface="Arial" pitchFamily="34" charset="-122"/>
                <a:cs typeface="Arial" pitchFamily="34" charset="-120"/>
              </a:rPr>
              <a:t>Conduz o caso, as reuniões com você e a conversa com a outra parte. Estimativa: 30 horas.</a:t>
            </a:r>
            <a:endParaRPr lang="en-US" sz="1050" dirty="0"/>
          </a:p>
        </p:txBody>
      </p:sp>
      <p:sp>
        <p:nvSpPr>
          <p:cNvPr id="8" name="Shape 6"/>
          <p:cNvSpPr/>
          <p:nvPr/>
        </p:nvSpPr>
        <p:spPr>
          <a:xfrm>
            <a:off x="457200" y="2404872"/>
            <a:ext cx="8229600" cy="777240"/>
          </a:xfrm>
          <a:prstGeom prst="roundRect">
            <a:avLst>
              <a:gd name="adj" fmla="val 11765"/>
            </a:avLst>
          </a:prstGeom>
          <a:solidFill>
            <a:srgbClr val="F3EEFB"/>
          </a:solidFill>
          <a:ln w="12700">
            <a:solidFill>
              <a:srgbClr val="F3EEFB"/>
            </a:solidFill>
            <a:prstDash val="solid"/>
          </a:ln>
        </p:spPr>
      </p:sp>
      <p:sp>
        <p:nvSpPr>
          <p:cNvPr id="9" name="Text 7"/>
          <p:cNvSpPr txBox="1"/>
          <p:nvPr/>
        </p:nvSpPr>
        <p:spPr>
          <a:xfrm>
            <a:off x="640080" y="2496312"/>
            <a:ext cx="2011680" cy="594360"/>
          </a:xfrm>
          <a:prstGeom prst="rect">
            <a:avLst/>
          </a:prstGeom>
          <a:noFill/>
          <a:ln/>
        </p:spPr>
        <p:txBody>
          <a:bodyPr wrap="square" lIns="0" tIns="0" rIns="0" bIns="0" rtlCol="0" anchor="ctr"/>
          <a:lstStyle/>
          <a:p>
            <a:pPr indent="0" marL="0">
              <a:buNone/>
            </a:pPr>
            <a:r>
              <a:rPr lang="en-US" sz="1300" b="1" dirty="0">
                <a:solidFill>
                  <a:srgbClr val="3B1F5E"/>
                </a:solidFill>
                <a:latin typeface="Arial" pitchFamily="34" charset="0"/>
                <a:ea typeface="Arial" pitchFamily="34" charset="-122"/>
                <a:cs typeface="Arial" pitchFamily="34" charset="-120"/>
              </a:rPr>
              <a:t>Rafael Lima</a:t>
            </a:r>
            <a:endParaRPr lang="en-US" sz="1300" dirty="0"/>
          </a:p>
        </p:txBody>
      </p:sp>
      <p:sp>
        <p:nvSpPr>
          <p:cNvPr id="10" name="Text 8"/>
          <p:cNvSpPr txBox="1"/>
          <p:nvPr/>
        </p:nvSpPr>
        <p:spPr>
          <a:xfrm>
            <a:off x="2697480" y="2496312"/>
            <a:ext cx="2103120" cy="594360"/>
          </a:xfrm>
          <a:prstGeom prst="rect">
            <a:avLst/>
          </a:prstGeom>
          <a:noFill/>
          <a:ln/>
        </p:spPr>
        <p:txBody>
          <a:bodyPr wrap="square" lIns="0" tIns="0" rIns="0" bIns="0" rtlCol="0" anchor="ctr"/>
          <a:lstStyle/>
          <a:p>
            <a:pPr indent="0" marL="0">
              <a:buNone/>
            </a:pPr>
            <a:r>
              <a:rPr lang="en-US" sz="1050" dirty="0">
                <a:solidFill>
                  <a:srgbClr val="5A4A78"/>
                </a:solidFill>
                <a:latin typeface="Arial" pitchFamily="34" charset="0"/>
                <a:ea typeface="Arial" pitchFamily="34" charset="-122"/>
                <a:cs typeface="Arial" pitchFamily="34" charset="-120"/>
              </a:rPr>
              <a:t>Sócio de apoio</a:t>
            </a:r>
            <a:endParaRPr lang="en-US" sz="1050" dirty="0"/>
          </a:p>
        </p:txBody>
      </p:sp>
      <p:sp>
        <p:nvSpPr>
          <p:cNvPr id="11" name="Text 9"/>
          <p:cNvSpPr txBox="1"/>
          <p:nvPr/>
        </p:nvSpPr>
        <p:spPr>
          <a:xfrm>
            <a:off x="4892040" y="2496312"/>
            <a:ext cx="3611880" cy="594360"/>
          </a:xfrm>
          <a:prstGeom prst="rect">
            <a:avLst/>
          </a:prstGeom>
          <a:noFill/>
          <a:ln/>
        </p:spPr>
        <p:txBody>
          <a:bodyPr wrap="square" lIns="0" tIns="0" rIns="0" bIns="0" rtlCol="0" anchor="ctr"/>
          <a:lstStyle/>
          <a:p>
            <a:pPr indent="0" marL="0">
              <a:buNone/>
            </a:pPr>
            <a:r>
              <a:rPr lang="en-US" sz="1050" dirty="0">
                <a:solidFill>
                  <a:srgbClr val="1F1235"/>
                </a:solidFill>
                <a:latin typeface="Arial" pitchFamily="34" charset="0"/>
                <a:ea typeface="Arial" pitchFamily="34" charset="-122"/>
                <a:cs typeface="Arial" pitchFamily="34" charset="-120"/>
              </a:rPr>
              <a:t>Revisa o que sai do escritório e substitui a Marina em audiências e reuniões quando preciso. Estimativa: 8 horas.</a:t>
            </a:r>
            <a:endParaRPr lang="en-US" sz="1050" dirty="0"/>
          </a:p>
        </p:txBody>
      </p:sp>
      <p:sp>
        <p:nvSpPr>
          <p:cNvPr id="12" name="Shape 10"/>
          <p:cNvSpPr/>
          <p:nvPr/>
        </p:nvSpPr>
        <p:spPr>
          <a:xfrm>
            <a:off x="457200" y="3300984"/>
            <a:ext cx="8229600" cy="777240"/>
          </a:xfrm>
          <a:prstGeom prst="roundRect">
            <a:avLst>
              <a:gd name="adj" fmla="val 11765"/>
            </a:avLst>
          </a:prstGeom>
          <a:solidFill>
            <a:srgbClr val="F3EEFB"/>
          </a:solidFill>
          <a:ln w="12700">
            <a:solidFill>
              <a:srgbClr val="F3EEFB"/>
            </a:solidFill>
            <a:prstDash val="solid"/>
          </a:ln>
        </p:spPr>
      </p:sp>
      <p:sp>
        <p:nvSpPr>
          <p:cNvPr id="13" name="Text 11"/>
          <p:cNvSpPr txBox="1"/>
          <p:nvPr/>
        </p:nvSpPr>
        <p:spPr>
          <a:xfrm>
            <a:off x="640080" y="3392424"/>
            <a:ext cx="2011680" cy="594360"/>
          </a:xfrm>
          <a:prstGeom prst="rect">
            <a:avLst/>
          </a:prstGeom>
          <a:noFill/>
          <a:ln/>
        </p:spPr>
        <p:txBody>
          <a:bodyPr wrap="square" lIns="0" tIns="0" rIns="0" bIns="0" rtlCol="0" anchor="ctr"/>
          <a:lstStyle/>
          <a:p>
            <a:pPr indent="0" marL="0">
              <a:buNone/>
            </a:pPr>
            <a:r>
              <a:rPr lang="en-US" sz="1300" b="1" dirty="0">
                <a:solidFill>
                  <a:srgbClr val="3B1F5E"/>
                </a:solidFill>
                <a:latin typeface="Arial" pitchFamily="34" charset="0"/>
                <a:ea typeface="Arial" pitchFamily="34" charset="-122"/>
                <a:cs typeface="Arial" pitchFamily="34" charset="-120"/>
              </a:rPr>
              <a:t>Júlia Prado</a:t>
            </a:r>
            <a:endParaRPr lang="en-US" sz="1300" dirty="0"/>
          </a:p>
        </p:txBody>
      </p:sp>
      <p:sp>
        <p:nvSpPr>
          <p:cNvPr id="14" name="Text 12"/>
          <p:cNvSpPr txBox="1"/>
          <p:nvPr/>
        </p:nvSpPr>
        <p:spPr>
          <a:xfrm>
            <a:off x="2697480" y="3392424"/>
            <a:ext cx="2103120" cy="594360"/>
          </a:xfrm>
          <a:prstGeom prst="rect">
            <a:avLst/>
          </a:prstGeom>
          <a:noFill/>
          <a:ln/>
        </p:spPr>
        <p:txBody>
          <a:bodyPr wrap="square" lIns="0" tIns="0" rIns="0" bIns="0" rtlCol="0" anchor="ctr"/>
          <a:lstStyle/>
          <a:p>
            <a:pPr indent="0" marL="0">
              <a:buNone/>
            </a:pPr>
            <a:r>
              <a:rPr lang="en-US" sz="1050" dirty="0">
                <a:solidFill>
                  <a:srgbClr val="5A4A78"/>
                </a:solidFill>
                <a:latin typeface="Arial" pitchFamily="34" charset="0"/>
                <a:ea typeface="Arial" pitchFamily="34" charset="-122"/>
                <a:cs typeface="Arial" pitchFamily="34" charset="-120"/>
              </a:rPr>
              <a:t>Estagiária</a:t>
            </a:r>
            <a:endParaRPr lang="en-US" sz="1050" dirty="0"/>
          </a:p>
        </p:txBody>
      </p:sp>
      <p:sp>
        <p:nvSpPr>
          <p:cNvPr id="15" name="Text 13"/>
          <p:cNvSpPr txBox="1"/>
          <p:nvPr/>
        </p:nvSpPr>
        <p:spPr>
          <a:xfrm>
            <a:off x="4892040" y="3392424"/>
            <a:ext cx="3611880" cy="594360"/>
          </a:xfrm>
          <a:prstGeom prst="rect">
            <a:avLst/>
          </a:prstGeom>
          <a:noFill/>
          <a:ln/>
        </p:spPr>
        <p:txBody>
          <a:bodyPr wrap="square" lIns="0" tIns="0" rIns="0" bIns="0" rtlCol="0" anchor="ctr"/>
          <a:lstStyle/>
          <a:p>
            <a:pPr indent="0" marL="0">
              <a:buNone/>
            </a:pPr>
            <a:r>
              <a:rPr lang="en-US" sz="1050" dirty="0">
                <a:solidFill>
                  <a:srgbClr val="1F1235"/>
                </a:solidFill>
                <a:latin typeface="Arial" pitchFamily="34" charset="0"/>
                <a:ea typeface="Arial" pitchFamily="34" charset="-122"/>
                <a:cs typeface="Arial" pitchFamily="34" charset="-120"/>
              </a:rPr>
              <a:t>Organiza documentos, agenda e o relatório de andamento, sob supervisão da Marina. Estimativa: 15 horas.</a:t>
            </a:r>
            <a:endParaRPr lang="en-US" sz="1050" dirty="0"/>
          </a:p>
        </p:txBody>
      </p:sp>
      <p:sp>
        <p:nvSpPr>
          <p:cNvPr id="16" name="Text 14"/>
          <p:cNvSpPr txBox="1"/>
          <p:nvPr/>
        </p:nvSpPr>
        <p:spPr>
          <a:xfrm>
            <a:off x="457200" y="4251960"/>
            <a:ext cx="8229600" cy="320040"/>
          </a:xfrm>
          <a:prstGeom prst="rect">
            <a:avLst/>
          </a:prstGeom>
          <a:noFill/>
          <a:ln/>
        </p:spPr>
        <p:txBody>
          <a:bodyPr wrap="square" lIns="0" tIns="0" rIns="0" bIns="0" rtlCol="0" anchor="ctr"/>
          <a:lstStyle/>
          <a:p>
            <a:pPr indent="0" marL="0">
              <a:buNone/>
            </a:pPr>
            <a:r>
              <a:rPr lang="en-US" sz="1050" dirty="0">
                <a:solidFill>
                  <a:srgbClr val="5A4A78"/>
                </a:solidFill>
                <a:latin typeface="Arial" pitchFamily="34" charset="0"/>
                <a:ea typeface="Arial" pitchFamily="34" charset="-122"/>
                <a:cs typeface="Arial" pitchFamily="34" charset="-120"/>
              </a:rPr>
              <a:t>53 horas estimadas no total, distribuídas nas quatro etapas da próxima página.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400" b="1" dirty="0">
                <a:solidFill>
                  <a:srgbClr val="3B1F5E"/>
                </a:solidFill>
                <a:latin typeface="Arial" pitchFamily="34" charset="0"/>
                <a:ea typeface="Arial" pitchFamily="34" charset="-122"/>
                <a:cs typeface="Arial" pitchFamily="34" charset="-120"/>
              </a:rPr>
              <a:t>Modalidade e valores</a:t>
            </a:r>
            <a:endParaRPr lang="en-US" sz="2400" dirty="0"/>
          </a:p>
        </p:txBody>
      </p:sp>
      <p:sp>
        <p:nvSpPr>
          <p:cNvPr id="3" name="Text 1"/>
          <p:cNvSpPr txBox="1"/>
          <p:nvPr/>
        </p:nvSpPr>
        <p:spPr>
          <a:xfrm>
            <a:off x="457200" y="1024128"/>
            <a:ext cx="8229600" cy="320040"/>
          </a:xfrm>
          <a:prstGeom prst="rect">
            <a:avLst/>
          </a:prstGeom>
          <a:noFill/>
          <a:ln/>
        </p:spPr>
        <p:txBody>
          <a:bodyPr wrap="square" lIns="0" tIns="0" rIns="0" bIns="0" rtlCol="0" anchor="ctr"/>
          <a:lstStyle/>
          <a:p>
            <a:pPr indent="0" marL="0">
              <a:buNone/>
            </a:pPr>
            <a:r>
              <a:rPr lang="en-US" sz="1200" dirty="0">
                <a:solidFill>
                  <a:srgbClr val="5A4A78"/>
                </a:solidFill>
                <a:latin typeface="Arial" pitchFamily="34" charset="0"/>
                <a:ea typeface="Arial" pitchFamily="34" charset="-122"/>
                <a:cs typeface="Arial" pitchFamily="34" charset="-120"/>
              </a:rPr>
              <a:t>Duas opções para as mesmas quatro etapas. Valores de exemplo, para editar.</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2103120"/>
                <a:gridCol w="1097280"/>
                <a:gridCol w="2194560"/>
                <a:gridCol w="1097280"/>
                <a:gridCol w="1737360"/>
              </a:tblGrid>
              <a:tr h="36576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Modalidade</a:t>
                      </a:r>
                      <a:endParaRPr lang="en-US" sz="100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3B1F5E"/>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Valor fixo</a:t>
                      </a:r>
                      <a:endParaRPr lang="en-US" sz="100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3B1F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Parcela de êxito</a:t>
                      </a:r>
                      <a:endParaRPr lang="en-US" sz="100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3B1F5E"/>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Horas estimadas</a:t>
                      </a:r>
                      <a:endParaRPr lang="en-US" sz="100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3B1F5E"/>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Como paga</a:t>
                      </a:r>
                      <a:endParaRPr lang="en-US" sz="100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3B1F5E"/>
                    </a:solidFill>
                  </a:tcPr>
                </a:tc>
              </a:tr>
              <a:tr h="457200">
                <a:tc>
                  <a:txBody>
                    <a:bodyPr/>
                    <a:lstStyle/>
                    <a:p>
                      <a:pPr algn="l" indent="0" marL="0">
                        <a:buNone/>
                      </a:pPr>
                      <a:r>
                        <a:rPr lang="en-US" sz="1000" dirty="0">
                          <a:solidFill>
                            <a:srgbClr val="1F1235"/>
                          </a:solidFill>
                          <a:latin typeface="Arial" pitchFamily="34" charset="0"/>
                          <a:ea typeface="Arial" pitchFamily="34" charset="-122"/>
                          <a:cs typeface="Arial" pitchFamily="34" charset="-120"/>
                        </a:rPr>
                        <a:t>Opção A · Honorário fixo</a:t>
                      </a:r>
                      <a:endParaRPr lang="en-US" sz="100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3EEFB"/>
                    </a:solidFill>
                  </a:tcPr>
                </a:tc>
                <a:tc>
                  <a:txBody>
                    <a:bodyPr/>
                    <a:lstStyle/>
                    <a:p>
                      <a:pPr algn="r" indent="0" marL="0">
                        <a:buNone/>
                      </a:pPr>
                      <a:r>
                        <a:rPr lang="en-US" sz="1000" dirty="0">
                          <a:solidFill>
                            <a:srgbClr val="1F1235"/>
                          </a:solidFill>
                          <a:latin typeface="Arial" pitchFamily="34" charset="0"/>
                          <a:ea typeface="Arial" pitchFamily="34" charset="-122"/>
                          <a:cs typeface="Arial" pitchFamily="34" charset="-120"/>
                        </a:rPr>
                        <a:t>R$ 7.000</a:t>
                      </a:r>
                      <a:endParaRPr lang="en-US" sz="100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3EEFB"/>
                    </a:solidFill>
                  </a:tcPr>
                </a:tc>
                <a:tc>
                  <a:txBody>
                    <a:bodyPr/>
                    <a:lstStyle/>
                    <a:p>
                      <a:pPr algn="l" indent="0" marL="0">
                        <a:buNone/>
                      </a:pPr>
                      <a:r>
                        <a:rPr lang="en-US" sz="1000" dirty="0">
                          <a:solidFill>
                            <a:srgbClr val="1F1235"/>
                          </a:solidFill>
                          <a:latin typeface="Arial" pitchFamily="34" charset="0"/>
                          <a:ea typeface="Arial" pitchFamily="34" charset="-122"/>
                          <a:cs typeface="Arial" pitchFamily="34" charset="-120"/>
                        </a:rPr>
                        <a:t>não há</a:t>
                      </a:r>
                      <a:endParaRPr lang="en-US" sz="100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3EEFB"/>
                    </a:solidFill>
                  </a:tcPr>
                </a:tc>
                <a:tc>
                  <a:txBody>
                    <a:bodyPr/>
                    <a:lstStyle/>
                    <a:p>
                      <a:pPr algn="r" indent="0" marL="0">
                        <a:buNone/>
                      </a:pPr>
                      <a:r>
                        <a:rPr lang="en-US" sz="1000" dirty="0">
                          <a:solidFill>
                            <a:srgbClr val="1F1235"/>
                          </a:solidFill>
                          <a:latin typeface="Arial" pitchFamily="34" charset="0"/>
                          <a:ea typeface="Arial" pitchFamily="34" charset="-122"/>
                          <a:cs typeface="Arial" pitchFamily="34" charset="-120"/>
                        </a:rPr>
                        <a:t>53 h</a:t>
                      </a:r>
                      <a:endParaRPr lang="en-US" sz="100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3EEFB"/>
                    </a:solidFill>
                  </a:tcPr>
                </a:tc>
                <a:tc>
                  <a:txBody>
                    <a:bodyPr/>
                    <a:lstStyle/>
                    <a:p>
                      <a:pPr algn="l" indent="0" marL="0">
                        <a:buNone/>
                      </a:pPr>
                      <a:r>
                        <a:rPr lang="en-US" sz="1000" dirty="0">
                          <a:solidFill>
                            <a:srgbClr val="1F1235"/>
                          </a:solidFill>
                          <a:latin typeface="Arial" pitchFamily="34" charset="0"/>
                          <a:ea typeface="Arial" pitchFamily="34" charset="-122"/>
                          <a:cs typeface="Arial" pitchFamily="34" charset="-120"/>
                        </a:rPr>
                        <a:t>40 % na aceitação + 3 parcelas mensais</a:t>
                      </a:r>
                      <a:endParaRPr lang="en-US" sz="100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3EEFB"/>
                    </a:solidFill>
                  </a:tcPr>
                </a:tc>
              </a:tr>
              <a:tr h="566928">
                <a:tc>
                  <a:txBody>
                    <a:bodyPr/>
                    <a:lstStyle/>
                    <a:p>
                      <a:pPr algn="l" indent="0" marL="0">
                        <a:buNone/>
                      </a:pPr>
                      <a:r>
                        <a:rPr lang="en-US" sz="1000" b="1" dirty="0">
                          <a:solidFill>
                            <a:srgbClr val="1F1235"/>
                          </a:solidFill>
                          <a:latin typeface="Arial" pitchFamily="34" charset="0"/>
                          <a:ea typeface="Arial" pitchFamily="34" charset="-122"/>
                          <a:cs typeface="Arial" pitchFamily="34" charset="-120"/>
                        </a:rPr>
                        <a:t>Opção B · Misto (recomendada)</a:t>
                      </a:r>
                      <a:endParaRPr lang="en-US" sz="100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1235"/>
                          </a:solidFill>
                          <a:latin typeface="Arial" pitchFamily="34" charset="0"/>
                          <a:ea typeface="Arial" pitchFamily="34" charset="-122"/>
                          <a:cs typeface="Arial" pitchFamily="34" charset="-120"/>
                        </a:rPr>
                        <a:t>R$ 4.500</a:t>
                      </a:r>
                      <a:endParaRPr lang="en-US" sz="100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F1235"/>
                          </a:solidFill>
                          <a:latin typeface="Arial" pitchFamily="34" charset="0"/>
                          <a:ea typeface="Arial" pitchFamily="34" charset="-122"/>
                          <a:cs typeface="Arial" pitchFamily="34" charset="-120"/>
                        </a:rPr>
                        <a:t>15 % do valor recebido ou economizado, ao final</a:t>
                      </a:r>
                      <a:endParaRPr lang="en-US" sz="100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1235"/>
                          </a:solidFill>
                          <a:latin typeface="Arial" pitchFamily="34" charset="0"/>
                          <a:ea typeface="Arial" pitchFamily="34" charset="-122"/>
                          <a:cs typeface="Arial" pitchFamily="34" charset="-120"/>
                        </a:rPr>
                        <a:t>53 h</a:t>
                      </a:r>
                      <a:endParaRPr lang="en-US" sz="100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F1235"/>
                          </a:solidFill>
                          <a:latin typeface="Arial" pitchFamily="34" charset="0"/>
                          <a:ea typeface="Arial" pitchFamily="34" charset="-122"/>
                          <a:cs typeface="Arial" pitchFamily="34" charset="-120"/>
                        </a:rPr>
                        <a:t>40 % na aceitação + 3 parcelas; êxito ao final</a:t>
                      </a:r>
                      <a:endParaRPr lang="en-US" sz="100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2971800"/>
            <a:ext cx="8229600" cy="1645920"/>
          </a:xfrm>
          <a:prstGeom prst="rect">
            <a:avLst/>
          </a:prstGeom>
          <a:noFill/>
          <a:ln/>
        </p:spPr>
        <p:txBody>
          <a:bodyPr wrap="square" lIns="0" tIns="0" rIns="0" bIns="0" rtlCol="0" anchor="t"/>
          <a:lstStyle/>
          <a:p>
            <a:pPr indent="0" marL="0">
              <a:spcAft>
                <a:spcPts val="600"/>
              </a:spcAft>
              <a:buNone/>
            </a:pPr>
            <a:r>
              <a:rPr lang="en-US" sz="1050" b="1" dirty="0">
                <a:solidFill>
                  <a:srgbClr val="3B1F5E"/>
                </a:solidFill>
                <a:latin typeface="Arial" pitchFamily="34" charset="0"/>
                <a:ea typeface="Arial" pitchFamily="34" charset="-122"/>
                <a:cs typeface="Arial" pitchFamily="34" charset="-120"/>
              </a:rPr>
              <a:t>Como chegamos ao valor</a:t>
            </a:r>
            <a:endParaRPr lang="en-US" sz="1050" dirty="0"/>
          </a:p>
          <a:p>
            <a:pPr marL="342900" indent="-342900">
              <a:spcAft>
                <a:spcPts val="600"/>
              </a:spcAft>
              <a:buSzPct val="100000"/>
              <a:buChar char="•"/>
            </a:pPr>
            <a:r>
              <a:rPr lang="en-US" sz="1050" dirty="0">
                <a:solidFill>
                  <a:srgbClr val="1F1235"/>
                </a:solidFill>
                <a:latin typeface="Arial" pitchFamily="34" charset="0"/>
                <a:ea typeface="Arial" pitchFamily="34" charset="-122"/>
                <a:cs typeface="Arial" pitchFamily="34" charset="-120"/>
              </a:rPr>
              <a:t>Pelas horas estimadas em cada etapa e pelo valor de cada uma: análise inicial 8 h (R$ 900), fase inicial 18 h (R$ 1.800), acompanhamento até a decisão 22 h (R$ 1.200), encerramento 5 h (R$ 600). O êxito da opção B só existe se houver resultado para você.</a:t>
            </a:r>
            <a:endParaRPr lang="en-US" sz="1050" dirty="0"/>
          </a:p>
          <a:p>
            <a:pPr indent="0" marL="0">
              <a:spcAft>
                <a:spcPts val="600"/>
              </a:spcAft>
              <a:buNone/>
            </a:pPr>
            <a:r>
              <a:rPr lang="en-US" sz="1050" b="1" dirty="0">
                <a:solidFill>
                  <a:srgbClr val="3B1F5E"/>
                </a:solidFill>
                <a:latin typeface="Arial" pitchFamily="34" charset="0"/>
                <a:ea typeface="Arial" pitchFamily="34" charset="-122"/>
                <a:cs typeface="Arial" pitchFamily="34" charset="-120"/>
              </a:rPr>
              <a:t>Por que recomendamos a opção mista</a:t>
            </a:r>
            <a:endParaRPr lang="en-US" sz="1050" dirty="0"/>
          </a:p>
          <a:p>
            <a:pPr marL="342900" indent="-342900">
              <a:spcAft>
                <a:spcPts val="600"/>
              </a:spcAft>
              <a:buSzPct val="100000"/>
              <a:buChar char="•"/>
            </a:pPr>
            <a:r>
              <a:rPr lang="en-US" sz="1050" dirty="0">
                <a:solidFill>
                  <a:srgbClr val="1F1235"/>
                </a:solidFill>
                <a:latin typeface="Arial" pitchFamily="34" charset="0"/>
                <a:ea typeface="Arial" pitchFamily="34" charset="-122"/>
                <a:cs typeface="Arial" pitchFamily="34" charset="-120"/>
              </a:rPr>
              <a:t>Entrada menor e o escritório participa do resultado. Se nada for recebido ou economizado, não há parcela de êxito.</a:t>
            </a:r>
            <a:endParaRPr lang="en-US" sz="1050" dirty="0"/>
          </a:p>
          <a:p>
            <a:pPr indent="0" marL="0">
              <a:spcAft>
                <a:spcPts val="600"/>
              </a:spcAft>
              <a:buNone/>
            </a:pPr>
            <a:r>
              <a:rPr lang="en-US" sz="1050" b="1" dirty="0">
                <a:solidFill>
                  <a:srgbClr val="3B1F5E"/>
                </a:solidFill>
                <a:latin typeface="Arial" pitchFamily="34" charset="0"/>
                <a:ea typeface="Arial" pitchFamily="34" charset="-122"/>
                <a:cs typeface="Arial" pitchFamily="34" charset="-120"/>
              </a:rPr>
              <a:t>Não incluído no valor</a:t>
            </a:r>
            <a:endParaRPr lang="en-US" sz="1050" dirty="0"/>
          </a:p>
          <a:p>
            <a:pPr marL="342900" indent="-342900">
              <a:spcAft>
                <a:spcPts val="600"/>
              </a:spcAft>
              <a:buSzPct val="100000"/>
              <a:buChar char="•"/>
            </a:pPr>
            <a:r>
              <a:rPr lang="en-US" sz="1050" dirty="0">
                <a:solidFill>
                  <a:srgbClr val="1F1235"/>
                </a:solidFill>
                <a:latin typeface="Arial" pitchFamily="34" charset="0"/>
                <a:ea typeface="Arial" pitchFamily="34" charset="-122"/>
                <a:cs typeface="Arial" pitchFamily="34" charset="-120"/>
              </a:rPr>
              <a:t>Custas e despesas de terceiros (perícia, certidões, deslocamento), reembolsadas com comprovante.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400" b="1" dirty="0">
                <a:solidFill>
                  <a:srgbClr val="3B1F5E"/>
                </a:solidFill>
                <a:latin typeface="Arial" pitchFamily="34" charset="0"/>
                <a:ea typeface="Arial" pitchFamily="34" charset="-122"/>
                <a:cs typeface="Arial" pitchFamily="34" charset="-120"/>
              </a:rPr>
              <a:t>Condições de pagamento e parcelas</a:t>
            </a:r>
            <a:endParaRPr lang="en-US" sz="2400" dirty="0"/>
          </a:p>
        </p:txBody>
      </p:sp>
      <p:sp>
        <p:nvSpPr>
          <p:cNvPr id="3" name="Text 1"/>
          <p:cNvSpPr txBox="1"/>
          <p:nvPr/>
        </p:nvSpPr>
        <p:spPr>
          <a:xfrm>
            <a:off x="457200" y="1024128"/>
            <a:ext cx="8229600" cy="320040"/>
          </a:xfrm>
          <a:prstGeom prst="rect">
            <a:avLst/>
          </a:prstGeom>
          <a:noFill/>
          <a:ln/>
        </p:spPr>
        <p:txBody>
          <a:bodyPr wrap="square" lIns="0" tIns="0" rIns="0" bIns="0" rtlCol="0" anchor="ctr"/>
          <a:lstStyle/>
          <a:p>
            <a:pPr indent="0" marL="0">
              <a:buNone/>
            </a:pPr>
            <a:r>
              <a:rPr lang="en-US" sz="1200" dirty="0">
                <a:solidFill>
                  <a:srgbClr val="5A4A78"/>
                </a:solidFill>
                <a:latin typeface="Arial" pitchFamily="34" charset="0"/>
                <a:ea typeface="Arial" pitchFamily="34" charset="-122"/>
                <a:cs typeface="Arial" pitchFamily="34" charset="-120"/>
              </a:rPr>
              <a:t>Entrada de 40 % na aceitação da proposta e três parcelas mensais, por Pix. Datas contadas da proposta (14/09/2026).</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2377440"/>
                <a:gridCol w="1828800"/>
                <a:gridCol w="2011680"/>
                <a:gridCol w="2011680"/>
              </a:tblGrid>
              <a:tr h="347472">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Parcela</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3B1F5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Vencimento</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3B1F5E"/>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Opção A · Fixo</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3B1F5E"/>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Opção B · Misto</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3B1F5E"/>
                    </a:solidFill>
                  </a:tcPr>
                </a:tc>
              </a:tr>
              <a:tr h="329184">
                <a:tc>
                  <a:txBody>
                    <a:bodyPr/>
                    <a:lstStyle/>
                    <a:p>
                      <a:pPr algn="l" indent="0" marL="0">
                        <a:buNone/>
                      </a:pPr>
                      <a:r>
                        <a:rPr lang="en-US" sz="1050" dirty="0">
                          <a:solidFill>
                            <a:srgbClr val="1F1235"/>
                          </a:solidFill>
                          <a:latin typeface="Arial" pitchFamily="34" charset="0"/>
                          <a:ea typeface="Arial" pitchFamily="34" charset="-122"/>
                          <a:cs typeface="Arial" pitchFamily="34" charset="-120"/>
                        </a:rPr>
                        <a:t>Entrada (40 %)</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3EEFB"/>
                    </a:solidFill>
                  </a:tcPr>
                </a:tc>
                <a:tc>
                  <a:txBody>
                    <a:bodyPr/>
                    <a:lstStyle/>
                    <a:p>
                      <a:pPr algn="l" indent="0" marL="0">
                        <a:buNone/>
                      </a:pPr>
                      <a:r>
                        <a:rPr lang="en-US" sz="1050" dirty="0">
                          <a:solidFill>
                            <a:srgbClr val="1F1235"/>
                          </a:solidFill>
                          <a:latin typeface="Arial" pitchFamily="34" charset="0"/>
                          <a:ea typeface="Arial" pitchFamily="34" charset="-122"/>
                          <a:cs typeface="Arial" pitchFamily="34" charset="-120"/>
                        </a:rPr>
                        <a:t>na aceitação</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3EEFB"/>
                    </a:solidFill>
                  </a:tcPr>
                </a:tc>
                <a:tc>
                  <a:txBody>
                    <a:bodyPr/>
                    <a:lstStyle/>
                    <a:p>
                      <a:pPr algn="r" indent="0" marL="0">
                        <a:buNone/>
                      </a:pPr>
                      <a:r>
                        <a:rPr lang="en-US" sz="1050" dirty="0">
                          <a:solidFill>
                            <a:srgbClr val="1F1235"/>
                          </a:solidFill>
                          <a:latin typeface="Arial" pitchFamily="34" charset="0"/>
                          <a:ea typeface="Arial" pitchFamily="34" charset="-122"/>
                          <a:cs typeface="Arial" pitchFamily="34" charset="-120"/>
                        </a:rPr>
                        <a:t>R$ 2.800</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3EEFB"/>
                    </a:solidFill>
                  </a:tcPr>
                </a:tc>
                <a:tc>
                  <a:txBody>
                    <a:bodyPr/>
                    <a:lstStyle/>
                    <a:p>
                      <a:pPr algn="r" indent="0" marL="0">
                        <a:buNone/>
                      </a:pPr>
                      <a:r>
                        <a:rPr lang="en-US" sz="1050" dirty="0">
                          <a:solidFill>
                            <a:srgbClr val="1F1235"/>
                          </a:solidFill>
                          <a:latin typeface="Arial" pitchFamily="34" charset="0"/>
                          <a:ea typeface="Arial" pitchFamily="34" charset="-122"/>
                          <a:cs typeface="Arial" pitchFamily="34" charset="-120"/>
                        </a:rPr>
                        <a:t>R$ 1.800</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3EEFB"/>
                    </a:solidFill>
                  </a:tcPr>
                </a:tc>
              </a:tr>
              <a:tr h="329184">
                <a:tc>
                  <a:txBody>
                    <a:bodyPr/>
                    <a:lstStyle/>
                    <a:p>
                      <a:pPr algn="l" indent="0" marL="0">
                        <a:buNone/>
                      </a:pPr>
                      <a:r>
                        <a:rPr lang="en-US" sz="1050" dirty="0">
                          <a:solidFill>
                            <a:srgbClr val="1F1235"/>
                          </a:solidFill>
                          <a:latin typeface="Arial" pitchFamily="34" charset="0"/>
                          <a:ea typeface="Arial" pitchFamily="34" charset="-122"/>
                          <a:cs typeface="Arial" pitchFamily="34" charset="-120"/>
                        </a:rPr>
                        <a:t>1ª parcela</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1235"/>
                          </a:solidFill>
                          <a:latin typeface="Arial" pitchFamily="34" charset="0"/>
                          <a:ea typeface="Arial" pitchFamily="34" charset="-122"/>
                          <a:cs typeface="Arial" pitchFamily="34" charset="-120"/>
                        </a:rPr>
                        <a:t>14/10/2026</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1235"/>
                          </a:solidFill>
                          <a:latin typeface="Arial" pitchFamily="34" charset="0"/>
                          <a:ea typeface="Arial" pitchFamily="34" charset="-122"/>
                          <a:cs typeface="Arial" pitchFamily="34" charset="-120"/>
                        </a:rPr>
                        <a:t>R$ 1.400</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1235"/>
                          </a:solidFill>
                          <a:latin typeface="Arial" pitchFamily="34" charset="0"/>
                          <a:ea typeface="Arial" pitchFamily="34" charset="-122"/>
                          <a:cs typeface="Arial" pitchFamily="34" charset="-120"/>
                        </a:rPr>
                        <a:t>R$ 900</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1F1235"/>
                          </a:solidFill>
                          <a:latin typeface="Arial" pitchFamily="34" charset="0"/>
                          <a:ea typeface="Arial" pitchFamily="34" charset="-122"/>
                          <a:cs typeface="Arial" pitchFamily="34" charset="-120"/>
                        </a:rPr>
                        <a:t>2ª parcela</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3EEFB"/>
                    </a:solidFill>
                  </a:tcPr>
                </a:tc>
                <a:tc>
                  <a:txBody>
                    <a:bodyPr/>
                    <a:lstStyle/>
                    <a:p>
                      <a:pPr algn="l" indent="0" marL="0">
                        <a:buNone/>
                      </a:pPr>
                      <a:r>
                        <a:rPr lang="en-US" sz="1050" dirty="0">
                          <a:solidFill>
                            <a:srgbClr val="1F1235"/>
                          </a:solidFill>
                          <a:latin typeface="Arial" pitchFamily="34" charset="0"/>
                          <a:ea typeface="Arial" pitchFamily="34" charset="-122"/>
                          <a:cs typeface="Arial" pitchFamily="34" charset="-120"/>
                        </a:rPr>
                        <a:t>13/11/2026</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3EEFB"/>
                    </a:solidFill>
                  </a:tcPr>
                </a:tc>
                <a:tc>
                  <a:txBody>
                    <a:bodyPr/>
                    <a:lstStyle/>
                    <a:p>
                      <a:pPr algn="r" indent="0" marL="0">
                        <a:buNone/>
                      </a:pPr>
                      <a:r>
                        <a:rPr lang="en-US" sz="1050" dirty="0">
                          <a:solidFill>
                            <a:srgbClr val="1F1235"/>
                          </a:solidFill>
                          <a:latin typeface="Arial" pitchFamily="34" charset="0"/>
                          <a:ea typeface="Arial" pitchFamily="34" charset="-122"/>
                          <a:cs typeface="Arial" pitchFamily="34" charset="-120"/>
                        </a:rPr>
                        <a:t>R$ 1.400</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3EEFB"/>
                    </a:solidFill>
                  </a:tcPr>
                </a:tc>
                <a:tc>
                  <a:txBody>
                    <a:bodyPr/>
                    <a:lstStyle/>
                    <a:p>
                      <a:pPr algn="r" indent="0" marL="0">
                        <a:buNone/>
                      </a:pPr>
                      <a:r>
                        <a:rPr lang="en-US" sz="1050" dirty="0">
                          <a:solidFill>
                            <a:srgbClr val="1F1235"/>
                          </a:solidFill>
                          <a:latin typeface="Arial" pitchFamily="34" charset="0"/>
                          <a:ea typeface="Arial" pitchFamily="34" charset="-122"/>
                          <a:cs typeface="Arial" pitchFamily="34" charset="-120"/>
                        </a:rPr>
                        <a:t>R$ 900</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3EEFB"/>
                    </a:solidFill>
                  </a:tcPr>
                </a:tc>
              </a:tr>
              <a:tr h="329184">
                <a:tc>
                  <a:txBody>
                    <a:bodyPr/>
                    <a:lstStyle/>
                    <a:p>
                      <a:pPr algn="l" indent="0" marL="0">
                        <a:buNone/>
                      </a:pPr>
                      <a:r>
                        <a:rPr lang="en-US" sz="1050" dirty="0">
                          <a:solidFill>
                            <a:srgbClr val="1F1235"/>
                          </a:solidFill>
                          <a:latin typeface="Arial" pitchFamily="34" charset="0"/>
                          <a:ea typeface="Arial" pitchFamily="34" charset="-122"/>
                          <a:cs typeface="Arial" pitchFamily="34" charset="-120"/>
                        </a:rPr>
                        <a:t>3ª parcela</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1235"/>
                          </a:solidFill>
                          <a:latin typeface="Arial" pitchFamily="34" charset="0"/>
                          <a:ea typeface="Arial" pitchFamily="34" charset="-122"/>
                          <a:cs typeface="Arial" pitchFamily="34" charset="-120"/>
                        </a:rPr>
                        <a:t>13/12/2026</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1235"/>
                          </a:solidFill>
                          <a:latin typeface="Arial" pitchFamily="34" charset="0"/>
                          <a:ea typeface="Arial" pitchFamily="34" charset="-122"/>
                          <a:cs typeface="Arial" pitchFamily="34" charset="-120"/>
                        </a:rPr>
                        <a:t>R$ 1.400</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1235"/>
                          </a:solidFill>
                          <a:latin typeface="Arial" pitchFamily="34" charset="0"/>
                          <a:ea typeface="Arial" pitchFamily="34" charset="-122"/>
                          <a:cs typeface="Arial" pitchFamily="34" charset="-120"/>
                        </a:rPr>
                        <a:t>R$ 900</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1F1235"/>
                          </a:solidFill>
                          <a:latin typeface="Arial" pitchFamily="34" charset="0"/>
                          <a:ea typeface="Arial" pitchFamily="34" charset="-122"/>
                          <a:cs typeface="Arial" pitchFamily="34" charset="-120"/>
                        </a:rPr>
                        <a:t>Total</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3EEFB"/>
                    </a:solidFill>
                  </a:tcPr>
                </a:tc>
                <a:tc>
                  <a:txBody>
                    <a:bodyPr/>
                    <a:lstStyle/>
                    <a:p>
                      <a:pPr algn="l" indent="0" marL="0">
                        <a:buNone/>
                      </a:pPr>
                      <a:r>
                        <a:rPr lang="en-US" sz="1050" b="1" dirty="0">
                          <a:solidFill>
                            <a:srgbClr val="1F1235"/>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3EEFB"/>
                    </a:solidFill>
                  </a:tcPr>
                </a:tc>
                <a:tc>
                  <a:txBody>
                    <a:bodyPr/>
                    <a:lstStyle/>
                    <a:p>
                      <a:pPr algn="r" indent="0" marL="0">
                        <a:buNone/>
                      </a:pPr>
                      <a:r>
                        <a:rPr lang="en-US" sz="1050" b="1" dirty="0">
                          <a:solidFill>
                            <a:srgbClr val="1F1235"/>
                          </a:solidFill>
                          <a:latin typeface="Arial" pitchFamily="34" charset="0"/>
                          <a:ea typeface="Arial" pitchFamily="34" charset="-122"/>
                          <a:cs typeface="Arial" pitchFamily="34" charset="-120"/>
                        </a:rPr>
                        <a:t>R$ 7.000</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3EEFB"/>
                    </a:solidFill>
                  </a:tcPr>
                </a:tc>
                <a:tc>
                  <a:txBody>
                    <a:bodyPr/>
                    <a:lstStyle/>
                    <a:p>
                      <a:pPr algn="r" indent="0" marL="0">
                        <a:buNone/>
                      </a:pPr>
                      <a:r>
                        <a:rPr lang="en-US" sz="1050" b="1" dirty="0">
                          <a:solidFill>
                            <a:srgbClr val="1F1235"/>
                          </a:solidFill>
                          <a:latin typeface="Arial" pitchFamily="34" charset="0"/>
                          <a:ea typeface="Arial" pitchFamily="34" charset="-122"/>
                          <a:cs typeface="Arial" pitchFamily="34" charset="-120"/>
                        </a:rPr>
                        <a:t>R$ 4.500 + êxito</a:t>
                      </a:r>
                      <a:endParaRPr lang="en-US" sz="1050" dirty="0">
                        <a:latin typeface="Arial" charset="0"/>
                        <a:ea typeface="Arial" charset="0"/>
                        <a:cs typeface="Arial" charset="0"/>
                      </a:endParaRPr>
                    </a:p>
                  </a:txBody>
                  <a:tcPr marL="54864" marR="54864" marT="54864" marB="54864" anchor="ctr">
                    <a:lnL w="9525" cap="flat" cmpd="sng" algn="ctr">
                      <a:solidFill>
                        <a:srgbClr val="DCD2EC"/>
                      </a:solidFill>
                      <a:prstDash val="solid"/>
                      <a:round/>
                      <a:headEnd type="none" w="med" len="med"/>
                      <a:tailEnd type="none" w="med" len="med"/>
                    </a:lnL>
                    <a:lnR w="9525" cap="flat" cmpd="sng" algn="ctr">
                      <a:solidFill>
                        <a:srgbClr val="DCD2EC"/>
                      </a:solidFill>
                      <a:prstDash val="solid"/>
                      <a:round/>
                      <a:headEnd type="none" w="med" len="med"/>
                      <a:tailEnd type="none" w="med" len="med"/>
                    </a:lnR>
                    <a:lnT w="9525" cap="flat" cmpd="sng" algn="ctr">
                      <a:solidFill>
                        <a:srgbClr val="DCD2EC"/>
                      </a:solidFill>
                      <a:prstDash val="solid"/>
                      <a:round/>
                      <a:headEnd type="none" w="med" len="med"/>
                      <a:tailEnd type="none" w="med" len="med"/>
                    </a:lnT>
                    <a:lnB w="9525" cap="flat" cmpd="sng" algn="ctr">
                      <a:solidFill>
                        <a:srgbClr val="DCD2EC"/>
                      </a:solidFill>
                      <a:prstDash val="solid"/>
                      <a:round/>
                      <a:headEnd type="none" w="med" len="med"/>
                      <a:tailEnd type="none" w="med" len="med"/>
                    </a:lnB>
                    <a:solidFill>
                      <a:srgbClr val="F3EEFB"/>
                    </a:solidFill>
                  </a:tcPr>
                </a:tc>
              </a:tr>
            </a:tbl>
          </a:graphicData>
        </a:graphic>
      </p:graphicFrame>
      <p:sp>
        <p:nvSpPr>
          <p:cNvPr id="5" name="Text 2"/>
          <p:cNvSpPr txBox="1"/>
          <p:nvPr/>
        </p:nvSpPr>
        <p:spPr>
          <a:xfrm>
            <a:off x="457200" y="3794760"/>
            <a:ext cx="8229600" cy="777240"/>
          </a:xfrm>
          <a:prstGeom prst="rect">
            <a:avLst/>
          </a:prstGeom>
          <a:noFill/>
          <a:ln/>
        </p:spPr>
        <p:txBody>
          <a:bodyPr wrap="square" lIns="0" tIns="0" rIns="0" bIns="0" rtlCol="0" anchor="t"/>
          <a:lstStyle/>
          <a:p>
            <a:pPr indent="0" marL="0">
              <a:buNone/>
            </a:pPr>
            <a:r>
              <a:rPr lang="en-US" sz="1050" dirty="0">
                <a:solidFill>
                  <a:srgbClr val="1F1235"/>
                </a:solidFill>
                <a:latin typeface="Arial" pitchFamily="34" charset="0"/>
                <a:ea typeface="Arial" pitchFamily="34" charset="-122"/>
                <a:cs typeface="Arial" pitchFamily="34" charset="-120"/>
              </a:rPr>
              <a:t>Êxito da opção B: apurado e pago em até 30 dias depois de você receber (ou deixar de pagar) o valor. Despesas de terceiros: previsão de até R$ 1.250 (custas R$ 800, deslocamentos R$ 300, cópias e certidões R$ 150), sempre autorizadas antes. Atraso: aviso em 7 dias; condições de reajuste e de rescisão ficam no contrato.</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400" b="1" dirty="0">
                <a:solidFill>
                  <a:srgbClr val="3B1F5E"/>
                </a:solidFill>
                <a:latin typeface="Arial" pitchFamily="34" charset="0"/>
                <a:ea typeface="Arial" pitchFamily="34" charset="-122"/>
                <a:cs typeface="Arial" pitchFamily="34" charset="-120"/>
              </a:rPr>
              <a:t>O que está incluído e o que não está</a:t>
            </a:r>
            <a:endParaRPr lang="en-US" sz="2400" dirty="0"/>
          </a:p>
        </p:txBody>
      </p:sp>
      <p:sp>
        <p:nvSpPr>
          <p:cNvPr id="3" name="Text 1"/>
          <p:cNvSpPr txBox="1"/>
          <p:nvPr/>
        </p:nvSpPr>
        <p:spPr>
          <a:xfrm>
            <a:off x="457200" y="1024128"/>
            <a:ext cx="8229600" cy="320040"/>
          </a:xfrm>
          <a:prstGeom prst="rect">
            <a:avLst/>
          </a:prstGeom>
          <a:noFill/>
          <a:ln/>
        </p:spPr>
        <p:txBody>
          <a:bodyPr wrap="square" lIns="0" tIns="0" rIns="0" bIns="0" rtlCol="0" anchor="ctr"/>
          <a:lstStyle/>
          <a:p>
            <a:pPr indent="0" marL="0">
              <a:buNone/>
            </a:pPr>
            <a:r>
              <a:rPr lang="en-US" sz="1200" dirty="0">
                <a:solidFill>
                  <a:srgbClr val="5A4A78"/>
                </a:solidFill>
                <a:latin typeface="Arial" pitchFamily="34" charset="0"/>
                <a:ea typeface="Arial" pitchFamily="34" charset="-122"/>
                <a:cs typeface="Arial" pitchFamily="34" charset="-120"/>
              </a:rPr>
              <a:t>Para não haver surpresa. O que não está aqui pode ser contratado à parte.</a:t>
            </a:r>
            <a:endParaRPr lang="en-US" sz="1200" dirty="0"/>
          </a:p>
        </p:txBody>
      </p:sp>
      <p:sp>
        <p:nvSpPr>
          <p:cNvPr id="4" name="Shape 2"/>
          <p:cNvSpPr/>
          <p:nvPr/>
        </p:nvSpPr>
        <p:spPr>
          <a:xfrm>
            <a:off x="457200" y="1463040"/>
            <a:ext cx="4023360" cy="3063240"/>
          </a:xfrm>
          <a:prstGeom prst="roundRect">
            <a:avLst>
              <a:gd name="adj" fmla="val 3582"/>
            </a:avLst>
          </a:prstGeom>
          <a:solidFill>
            <a:srgbClr val="DDF3E7"/>
          </a:solidFill>
          <a:ln w="12700">
            <a:solidFill>
              <a:srgbClr val="DDF3E7"/>
            </a:solidFill>
            <a:prstDash val="solid"/>
          </a:ln>
        </p:spPr>
      </p:sp>
      <p:sp>
        <p:nvSpPr>
          <p:cNvPr id="5" name="Text 3"/>
          <p:cNvSpPr txBox="1"/>
          <p:nvPr/>
        </p:nvSpPr>
        <p:spPr>
          <a:xfrm>
            <a:off x="685800" y="1600200"/>
            <a:ext cx="3566160" cy="320040"/>
          </a:xfrm>
          <a:prstGeom prst="rect">
            <a:avLst/>
          </a:prstGeom>
          <a:noFill/>
          <a:ln/>
        </p:spPr>
        <p:txBody>
          <a:bodyPr wrap="square" lIns="0" tIns="0" rIns="0" bIns="0" rtlCol="0" anchor="ctr"/>
          <a:lstStyle/>
          <a:p>
            <a:pPr indent="0" marL="0">
              <a:buNone/>
            </a:pPr>
            <a:r>
              <a:rPr lang="en-US" sz="1400" b="1" dirty="0">
                <a:solidFill>
                  <a:srgbClr val="155E3C"/>
                </a:solidFill>
                <a:latin typeface="Arial" pitchFamily="34" charset="0"/>
                <a:ea typeface="Arial" pitchFamily="34" charset="-122"/>
                <a:cs typeface="Arial" pitchFamily="34" charset="-120"/>
              </a:rPr>
              <a:t>Incluído</a:t>
            </a:r>
            <a:endParaRPr lang="en-US" sz="1400" dirty="0"/>
          </a:p>
        </p:txBody>
      </p:sp>
      <p:sp>
        <p:nvSpPr>
          <p:cNvPr id="6" name="Text 4"/>
          <p:cNvSpPr txBox="1"/>
          <p:nvPr/>
        </p:nvSpPr>
        <p:spPr>
          <a:xfrm>
            <a:off x="685800" y="2011680"/>
            <a:ext cx="3566160" cy="242316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1235"/>
                </a:solidFill>
                <a:latin typeface="Arial" pitchFamily="34" charset="0"/>
                <a:ea typeface="Arial" pitchFamily="34" charset="-122"/>
                <a:cs typeface="Arial" pitchFamily="34" charset="-120"/>
              </a:rPr>
              <a:t>As quatro etapas do slide 3, até o encerramento do caso.</a:t>
            </a:r>
            <a:endParaRPr lang="en-US" sz="1100" dirty="0"/>
          </a:p>
          <a:p>
            <a:pPr marL="342900" indent="-342900">
              <a:spcAft>
                <a:spcPts val="600"/>
              </a:spcAft>
              <a:buSzPct val="100000"/>
              <a:buChar char="•"/>
            </a:pPr>
            <a:r>
              <a:rPr lang="en-US" sz="1100" dirty="0">
                <a:solidFill>
                  <a:srgbClr val="1F1235"/>
                </a:solidFill>
                <a:latin typeface="Arial" pitchFamily="34" charset="0"/>
                <a:ea typeface="Arial" pitchFamily="34" charset="-122"/>
                <a:cs typeface="Arial" pitchFamily="34" charset="-120"/>
              </a:rPr>
              <a:t>Conversa com a outra parte em seu nome, na tentativa de acordo.</a:t>
            </a:r>
            <a:endParaRPr lang="en-US" sz="1100" dirty="0"/>
          </a:p>
          <a:p>
            <a:pPr marL="342900" indent="-342900">
              <a:spcAft>
                <a:spcPts val="600"/>
              </a:spcAft>
              <a:buSzPct val="100000"/>
              <a:buChar char="•"/>
            </a:pPr>
            <a:r>
              <a:rPr lang="en-US" sz="1100" dirty="0">
                <a:solidFill>
                  <a:srgbClr val="1F1235"/>
                </a:solidFill>
                <a:latin typeface="Arial" pitchFamily="34" charset="0"/>
                <a:ea typeface="Arial" pitchFamily="34" charset="-122"/>
                <a:cs typeface="Arial" pitchFamily="34" charset="-120"/>
              </a:rPr>
              <a:t>Até duas reuniões por mês com você (presenciais ou por vídeo).</a:t>
            </a:r>
            <a:endParaRPr lang="en-US" sz="1100" dirty="0"/>
          </a:p>
          <a:p>
            <a:pPr marL="342900" indent="-342900">
              <a:spcAft>
                <a:spcPts val="600"/>
              </a:spcAft>
              <a:buSzPct val="100000"/>
              <a:buChar char="•"/>
            </a:pPr>
            <a:r>
              <a:rPr lang="en-US" sz="1100" dirty="0">
                <a:solidFill>
                  <a:srgbClr val="1F1235"/>
                </a:solidFill>
                <a:latin typeface="Arial" pitchFamily="34" charset="0"/>
                <a:ea typeface="Arial" pitchFamily="34" charset="-122"/>
                <a:cs typeface="Arial" pitchFamily="34" charset="-120"/>
              </a:rPr>
              <a:t>Relatório de andamento por e-mail a cada 30 dias e atendimento em horário comercial.</a:t>
            </a:r>
            <a:endParaRPr lang="en-US" sz="1100" dirty="0"/>
          </a:p>
          <a:p>
            <a:pPr marL="342900" indent="-342900">
              <a:spcAft>
                <a:spcPts val="600"/>
              </a:spcAft>
              <a:buSzPct val="100000"/>
              <a:buChar char="•"/>
            </a:pPr>
            <a:r>
              <a:rPr lang="en-US" sz="1100" dirty="0">
                <a:solidFill>
                  <a:srgbClr val="1F1235"/>
                </a:solidFill>
                <a:latin typeface="Arial" pitchFamily="34" charset="0"/>
                <a:ea typeface="Arial" pitchFamily="34" charset="-122"/>
                <a:cs typeface="Arial" pitchFamily="34" charset="-120"/>
              </a:rPr>
              <a:t>Organização e guarda dos documentos do caso.</a:t>
            </a:r>
            <a:endParaRPr lang="en-US" sz="1100" dirty="0"/>
          </a:p>
        </p:txBody>
      </p:sp>
      <p:sp>
        <p:nvSpPr>
          <p:cNvPr id="7" name="Shape 5"/>
          <p:cNvSpPr/>
          <p:nvPr/>
        </p:nvSpPr>
        <p:spPr>
          <a:xfrm>
            <a:off x="4663440" y="1463040"/>
            <a:ext cx="4023360" cy="3063240"/>
          </a:xfrm>
          <a:prstGeom prst="roundRect">
            <a:avLst>
              <a:gd name="adj" fmla="val 3582"/>
            </a:avLst>
          </a:prstGeom>
          <a:solidFill>
            <a:srgbClr val="FBE4E4"/>
          </a:solidFill>
          <a:ln w="12700">
            <a:solidFill>
              <a:srgbClr val="FBE4E4"/>
            </a:solidFill>
            <a:prstDash val="solid"/>
          </a:ln>
        </p:spPr>
      </p:sp>
      <p:sp>
        <p:nvSpPr>
          <p:cNvPr id="8" name="Text 6"/>
          <p:cNvSpPr txBox="1"/>
          <p:nvPr/>
        </p:nvSpPr>
        <p:spPr>
          <a:xfrm>
            <a:off x="4892040" y="1600200"/>
            <a:ext cx="3566160" cy="320040"/>
          </a:xfrm>
          <a:prstGeom prst="rect">
            <a:avLst/>
          </a:prstGeom>
          <a:noFill/>
          <a:ln/>
        </p:spPr>
        <p:txBody>
          <a:bodyPr wrap="square" lIns="0" tIns="0" rIns="0" bIns="0" rtlCol="0" anchor="ctr"/>
          <a:lstStyle/>
          <a:p>
            <a:pPr indent="0" marL="0">
              <a:buNone/>
            </a:pPr>
            <a:r>
              <a:rPr lang="en-US" sz="1400" b="1" dirty="0">
                <a:solidFill>
                  <a:srgbClr val="7A1F1F"/>
                </a:solidFill>
                <a:latin typeface="Arial" pitchFamily="34" charset="0"/>
                <a:ea typeface="Arial" pitchFamily="34" charset="-122"/>
                <a:cs typeface="Arial" pitchFamily="34" charset="-120"/>
              </a:rPr>
              <a:t>Não incluído</a:t>
            </a:r>
            <a:endParaRPr lang="en-US" sz="1400" dirty="0"/>
          </a:p>
        </p:txBody>
      </p:sp>
      <p:sp>
        <p:nvSpPr>
          <p:cNvPr id="9" name="Text 7"/>
          <p:cNvSpPr txBox="1"/>
          <p:nvPr/>
        </p:nvSpPr>
        <p:spPr>
          <a:xfrm>
            <a:off x="4892040" y="2011680"/>
            <a:ext cx="3566160" cy="242316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1235"/>
                </a:solidFill>
                <a:latin typeface="Arial" pitchFamily="34" charset="0"/>
                <a:ea typeface="Arial" pitchFamily="34" charset="-122"/>
                <a:cs typeface="Arial" pitchFamily="34" charset="-120"/>
              </a:rPr>
              <a:t>Custas e despesas de terceiros (reembolsadas com comprovante).</a:t>
            </a:r>
            <a:endParaRPr lang="en-US" sz="1100" dirty="0"/>
          </a:p>
          <a:p>
            <a:pPr marL="342900" indent="-342900">
              <a:spcAft>
                <a:spcPts val="600"/>
              </a:spcAft>
              <a:buSzPct val="100000"/>
              <a:buChar char="•"/>
            </a:pPr>
            <a:r>
              <a:rPr lang="en-US" sz="1100" dirty="0">
                <a:solidFill>
                  <a:srgbClr val="1F1235"/>
                </a:solidFill>
                <a:latin typeface="Arial" pitchFamily="34" charset="0"/>
                <a:ea typeface="Arial" pitchFamily="34" charset="-122"/>
                <a:cs typeface="Arial" pitchFamily="34" charset="-120"/>
              </a:rPr>
              <a:t>Recursos a instâncias superiores: proposta específica, se chegar lá.</a:t>
            </a:r>
            <a:endParaRPr lang="en-US" sz="1100" dirty="0"/>
          </a:p>
          <a:p>
            <a:pPr marL="342900" indent="-342900">
              <a:spcAft>
                <a:spcPts val="600"/>
              </a:spcAft>
              <a:buSzPct val="100000"/>
              <a:buChar char="•"/>
            </a:pPr>
            <a:r>
              <a:rPr lang="en-US" sz="1100" dirty="0">
                <a:solidFill>
                  <a:srgbClr val="1F1235"/>
                </a:solidFill>
                <a:latin typeface="Arial" pitchFamily="34" charset="0"/>
                <a:ea typeface="Arial" pitchFamily="34" charset="-122"/>
                <a:cs typeface="Arial" pitchFamily="34" charset="-120"/>
              </a:rPr>
              <a:t>Outros contratos ou assuntos.</a:t>
            </a:r>
            <a:endParaRPr lang="en-US" sz="1100" dirty="0"/>
          </a:p>
          <a:p>
            <a:pPr marL="342900" indent="-342900">
              <a:spcAft>
                <a:spcPts val="600"/>
              </a:spcAft>
              <a:buSzPct val="100000"/>
              <a:buChar char="•"/>
            </a:pPr>
            <a:r>
              <a:rPr lang="en-US" sz="1100" dirty="0">
                <a:solidFill>
                  <a:srgbClr val="1F1235"/>
                </a:solidFill>
                <a:latin typeface="Arial" pitchFamily="34" charset="0"/>
                <a:ea typeface="Arial" pitchFamily="34" charset="-122"/>
                <a:cs typeface="Arial" pitchFamily="34" charset="-120"/>
              </a:rPr>
              <a:t>Viagens fora da cidade (reembolso combinado antes).</a:t>
            </a:r>
            <a:endParaRPr lang="en-US" sz="1100" dirty="0"/>
          </a:p>
          <a:p>
            <a:pPr marL="342900" indent="-342900">
              <a:spcAft>
                <a:spcPts val="600"/>
              </a:spcAft>
              <a:buSzPct val="100000"/>
              <a:buChar char="•"/>
            </a:pPr>
            <a:r>
              <a:rPr lang="en-US" sz="1100" dirty="0">
                <a:solidFill>
                  <a:srgbClr val="1F1235"/>
                </a:solidFill>
                <a:latin typeface="Arial" pitchFamily="34" charset="0"/>
                <a:ea typeface="Arial" pitchFamily="34" charset="-122"/>
                <a:cs typeface="Arial" pitchFamily="34" charset="-120"/>
              </a:rPr>
              <a:t>Serviços de contabilidade, perícia ou tradução.</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400" b="1" dirty="0">
                <a:solidFill>
                  <a:srgbClr val="3B1F5E"/>
                </a:solidFill>
                <a:latin typeface="Arial" pitchFamily="34" charset="0"/>
                <a:ea typeface="Arial" pitchFamily="34" charset="-122"/>
                <a:cs typeface="Arial" pitchFamily="34" charset="-120"/>
              </a:rPr>
              <a:t>Como vamos nos falar</a:t>
            </a:r>
            <a:endParaRPr lang="en-US" sz="2400" dirty="0"/>
          </a:p>
        </p:txBody>
      </p:sp>
      <p:sp>
        <p:nvSpPr>
          <p:cNvPr id="3" name="Text 1"/>
          <p:cNvSpPr txBox="1"/>
          <p:nvPr/>
        </p:nvSpPr>
        <p:spPr>
          <a:xfrm>
            <a:off x="457200" y="1024128"/>
            <a:ext cx="8229600" cy="320040"/>
          </a:xfrm>
          <a:prstGeom prst="rect">
            <a:avLst/>
          </a:prstGeom>
          <a:noFill/>
          <a:ln/>
        </p:spPr>
        <p:txBody>
          <a:bodyPr wrap="square" lIns="0" tIns="0" rIns="0" bIns="0" rtlCol="0" anchor="ctr"/>
          <a:lstStyle/>
          <a:p>
            <a:pPr indent="0" marL="0">
              <a:buNone/>
            </a:pPr>
            <a:r>
              <a:rPr lang="en-US" sz="1200" dirty="0">
                <a:solidFill>
                  <a:srgbClr val="5A4A78"/>
                </a:solidFill>
                <a:latin typeface="Arial" pitchFamily="34" charset="0"/>
                <a:ea typeface="Arial" pitchFamily="34" charset="-122"/>
                <a:cs typeface="Arial" pitchFamily="34" charset="-120"/>
              </a:rPr>
              <a:t>Rotina combinada desde o início: você sabe quando terá notícia, sem precisar perguntar.</a:t>
            </a:r>
            <a:endParaRPr lang="en-US" sz="1200" dirty="0"/>
          </a:p>
        </p:txBody>
      </p:sp>
      <p:sp>
        <p:nvSpPr>
          <p:cNvPr id="4" name="Shape 2"/>
          <p:cNvSpPr/>
          <p:nvPr/>
        </p:nvSpPr>
        <p:spPr>
          <a:xfrm>
            <a:off x="457200" y="1554480"/>
            <a:ext cx="1874520" cy="2240280"/>
          </a:xfrm>
          <a:prstGeom prst="roundRect">
            <a:avLst>
              <a:gd name="adj" fmla="val 5854"/>
            </a:avLst>
          </a:prstGeom>
          <a:solidFill>
            <a:srgbClr val="FFC83D"/>
          </a:solidFill>
          <a:ln w="12700">
            <a:solidFill>
              <a:srgbClr val="FFC83D"/>
            </a:solidFill>
            <a:prstDash val="solid"/>
          </a:ln>
        </p:spPr>
      </p:sp>
      <p:sp>
        <p:nvSpPr>
          <p:cNvPr id="5" name="Text 3"/>
          <p:cNvSpPr txBox="1"/>
          <p:nvPr/>
        </p:nvSpPr>
        <p:spPr>
          <a:xfrm>
            <a:off x="640080" y="1691640"/>
            <a:ext cx="1508760" cy="731520"/>
          </a:xfrm>
          <a:prstGeom prst="rect">
            <a:avLst/>
          </a:prstGeom>
          <a:noFill/>
          <a:ln/>
        </p:spPr>
        <p:txBody>
          <a:bodyPr wrap="square" lIns="0" tIns="0" rIns="0" bIns="0" rtlCol="0" anchor="ctr">
            <a:normAutofit/>
          </a:bodyPr>
          <a:lstStyle/>
          <a:p>
            <a:pPr indent="0" marL="0">
              <a:buNone/>
            </a:pPr>
            <a:r>
              <a:rPr lang="en-US" sz="2600" b="1" dirty="0">
                <a:solidFill>
                  <a:srgbClr val="3B1F5E"/>
                </a:solidFill>
                <a:latin typeface="Arial" pitchFamily="34" charset="0"/>
                <a:ea typeface="Arial" pitchFamily="34" charset="-122"/>
                <a:cs typeface="Arial" pitchFamily="34" charset="-120"/>
              </a:rPr>
              <a:t>Mensal</a:t>
            </a:r>
            <a:endParaRPr lang="en-US" sz="2600" dirty="0"/>
          </a:p>
        </p:txBody>
      </p:sp>
      <p:sp>
        <p:nvSpPr>
          <p:cNvPr id="6" name="Text 4"/>
          <p:cNvSpPr txBox="1"/>
          <p:nvPr/>
        </p:nvSpPr>
        <p:spPr>
          <a:xfrm>
            <a:off x="640080" y="2423160"/>
            <a:ext cx="1508760" cy="320040"/>
          </a:xfrm>
          <a:prstGeom prst="rect">
            <a:avLst/>
          </a:prstGeom>
          <a:noFill/>
          <a:ln/>
        </p:spPr>
        <p:txBody>
          <a:bodyPr wrap="square" lIns="0" tIns="0" rIns="0" bIns="0" rtlCol="0" anchor="ctr"/>
          <a:lstStyle/>
          <a:p>
            <a:pPr indent="0" marL="0">
              <a:buNone/>
            </a:pPr>
            <a:r>
              <a:rPr lang="en-US" sz="1300" b="1" dirty="0">
                <a:solidFill>
                  <a:srgbClr val="3B1F5E"/>
                </a:solidFill>
                <a:latin typeface="Arial" pitchFamily="34" charset="0"/>
                <a:ea typeface="Arial" pitchFamily="34" charset="-122"/>
                <a:cs typeface="Arial" pitchFamily="34" charset="-120"/>
              </a:rPr>
              <a:t>Reunião de 30 min</a:t>
            </a:r>
            <a:endParaRPr lang="en-US" sz="1300" dirty="0"/>
          </a:p>
        </p:txBody>
      </p:sp>
      <p:sp>
        <p:nvSpPr>
          <p:cNvPr id="7" name="Text 5"/>
          <p:cNvSpPr txBox="1"/>
          <p:nvPr/>
        </p:nvSpPr>
        <p:spPr>
          <a:xfrm>
            <a:off x="640080" y="2743200"/>
            <a:ext cx="1508760" cy="960120"/>
          </a:xfrm>
          <a:prstGeom prst="rect">
            <a:avLst/>
          </a:prstGeom>
          <a:noFill/>
          <a:ln/>
        </p:spPr>
        <p:txBody>
          <a:bodyPr wrap="square" lIns="0" tIns="0" rIns="0" bIns="0" rtlCol="0" anchor="t"/>
          <a:lstStyle/>
          <a:p>
            <a:pPr indent="0" marL="0">
              <a:buNone/>
            </a:pPr>
            <a:r>
              <a:rPr lang="en-US" sz="1050" dirty="0">
                <a:solidFill>
                  <a:srgbClr val="5A4A78"/>
                </a:solidFill>
                <a:latin typeface="Arial" pitchFamily="34" charset="0"/>
                <a:ea typeface="Arial" pitchFamily="34" charset="-122"/>
                <a:cs typeface="Arial" pitchFamily="34" charset="-120"/>
              </a:rPr>
              <a:t>primeira semana do mês, presencial ou por vídeo, com a Marina</a:t>
            </a:r>
            <a:endParaRPr lang="en-US" sz="1050" dirty="0"/>
          </a:p>
        </p:txBody>
      </p:sp>
      <p:sp>
        <p:nvSpPr>
          <p:cNvPr id="8" name="Shape 6"/>
          <p:cNvSpPr/>
          <p:nvPr/>
        </p:nvSpPr>
        <p:spPr>
          <a:xfrm>
            <a:off x="2514600" y="1554480"/>
            <a:ext cx="1874520" cy="2240280"/>
          </a:xfrm>
          <a:prstGeom prst="roundRect">
            <a:avLst>
              <a:gd name="adj" fmla="val 5854"/>
            </a:avLst>
          </a:prstGeom>
          <a:solidFill>
            <a:srgbClr val="F3EEFB"/>
          </a:solidFill>
          <a:ln w="12700">
            <a:solidFill>
              <a:srgbClr val="F3EEFB"/>
            </a:solidFill>
            <a:prstDash val="solid"/>
          </a:ln>
        </p:spPr>
      </p:sp>
      <p:sp>
        <p:nvSpPr>
          <p:cNvPr id="9" name="Text 7"/>
          <p:cNvSpPr txBox="1"/>
          <p:nvPr/>
        </p:nvSpPr>
        <p:spPr>
          <a:xfrm>
            <a:off x="2697480" y="1691640"/>
            <a:ext cx="1508760" cy="731520"/>
          </a:xfrm>
          <a:prstGeom prst="rect">
            <a:avLst/>
          </a:prstGeom>
          <a:noFill/>
          <a:ln/>
        </p:spPr>
        <p:txBody>
          <a:bodyPr wrap="square" lIns="0" tIns="0" rIns="0" bIns="0" rtlCol="0" anchor="ctr">
            <a:normAutofit/>
          </a:bodyPr>
          <a:lstStyle/>
          <a:p>
            <a:pPr indent="0" marL="0">
              <a:buNone/>
            </a:pPr>
            <a:r>
              <a:rPr lang="en-US" sz="2600" b="1" dirty="0">
                <a:solidFill>
                  <a:srgbClr val="3B1F5E"/>
                </a:solidFill>
                <a:latin typeface="Arial" pitchFamily="34" charset="0"/>
                <a:ea typeface="Arial" pitchFamily="34" charset="-122"/>
                <a:cs typeface="Arial" pitchFamily="34" charset="-120"/>
              </a:rPr>
              <a:t>E-mail</a:t>
            </a:r>
            <a:endParaRPr lang="en-US" sz="2600" dirty="0"/>
          </a:p>
        </p:txBody>
      </p:sp>
      <p:sp>
        <p:nvSpPr>
          <p:cNvPr id="10" name="Text 8"/>
          <p:cNvSpPr txBox="1"/>
          <p:nvPr/>
        </p:nvSpPr>
        <p:spPr>
          <a:xfrm>
            <a:off x="2697480" y="2423160"/>
            <a:ext cx="1508760" cy="320040"/>
          </a:xfrm>
          <a:prstGeom prst="rect">
            <a:avLst/>
          </a:prstGeom>
          <a:noFill/>
          <a:ln/>
        </p:spPr>
        <p:txBody>
          <a:bodyPr wrap="square" lIns="0" tIns="0" rIns="0" bIns="0" rtlCol="0" anchor="ctr"/>
          <a:lstStyle/>
          <a:p>
            <a:pPr indent="0" marL="0">
              <a:buNone/>
            </a:pPr>
            <a:r>
              <a:rPr lang="en-US" sz="1300" b="1" dirty="0">
                <a:solidFill>
                  <a:srgbClr val="3B1F5E"/>
                </a:solidFill>
                <a:latin typeface="Arial" pitchFamily="34" charset="0"/>
                <a:ea typeface="Arial" pitchFamily="34" charset="-122"/>
                <a:cs typeface="Arial" pitchFamily="34" charset="-120"/>
              </a:rPr>
              <a:t>Relatório de andamento</a:t>
            </a:r>
            <a:endParaRPr lang="en-US" sz="1300" dirty="0"/>
          </a:p>
        </p:txBody>
      </p:sp>
      <p:sp>
        <p:nvSpPr>
          <p:cNvPr id="11" name="Text 9"/>
          <p:cNvSpPr txBox="1"/>
          <p:nvPr/>
        </p:nvSpPr>
        <p:spPr>
          <a:xfrm>
            <a:off x="2697480" y="2743200"/>
            <a:ext cx="1508760" cy="960120"/>
          </a:xfrm>
          <a:prstGeom prst="rect">
            <a:avLst/>
          </a:prstGeom>
          <a:noFill/>
          <a:ln/>
        </p:spPr>
        <p:txBody>
          <a:bodyPr wrap="square" lIns="0" tIns="0" rIns="0" bIns="0" rtlCol="0" anchor="t"/>
          <a:lstStyle/>
          <a:p>
            <a:pPr indent="0" marL="0">
              <a:buNone/>
            </a:pPr>
            <a:r>
              <a:rPr lang="en-US" sz="1050" dirty="0">
                <a:solidFill>
                  <a:srgbClr val="5A4A78"/>
                </a:solidFill>
                <a:latin typeface="Arial" pitchFamily="34" charset="0"/>
                <a:ea typeface="Arial" pitchFamily="34" charset="-122"/>
                <a:cs typeface="Arial" pitchFamily="34" charset="-120"/>
              </a:rPr>
              <a:t>o que aconteceu, o que vem, custos e despesas do período, em uma página</a:t>
            </a:r>
            <a:endParaRPr lang="en-US" sz="1050" dirty="0"/>
          </a:p>
        </p:txBody>
      </p:sp>
      <p:sp>
        <p:nvSpPr>
          <p:cNvPr id="12" name="Shape 10"/>
          <p:cNvSpPr/>
          <p:nvPr/>
        </p:nvSpPr>
        <p:spPr>
          <a:xfrm>
            <a:off x="4572000" y="1554480"/>
            <a:ext cx="1874520" cy="2240280"/>
          </a:xfrm>
          <a:prstGeom prst="roundRect">
            <a:avLst>
              <a:gd name="adj" fmla="val 5854"/>
            </a:avLst>
          </a:prstGeom>
          <a:solidFill>
            <a:srgbClr val="F3EEFB"/>
          </a:solidFill>
          <a:ln w="12700">
            <a:solidFill>
              <a:srgbClr val="F3EEFB"/>
            </a:solidFill>
            <a:prstDash val="solid"/>
          </a:ln>
        </p:spPr>
      </p:sp>
      <p:sp>
        <p:nvSpPr>
          <p:cNvPr id="13" name="Text 11"/>
          <p:cNvSpPr txBox="1"/>
          <p:nvPr/>
        </p:nvSpPr>
        <p:spPr>
          <a:xfrm>
            <a:off x="4754880" y="1691640"/>
            <a:ext cx="1508760" cy="731520"/>
          </a:xfrm>
          <a:prstGeom prst="rect">
            <a:avLst/>
          </a:prstGeom>
          <a:noFill/>
          <a:ln/>
        </p:spPr>
        <p:txBody>
          <a:bodyPr wrap="square" lIns="0" tIns="0" rIns="0" bIns="0" rtlCol="0" anchor="ctr">
            <a:normAutofit/>
          </a:bodyPr>
          <a:lstStyle/>
          <a:p>
            <a:pPr indent="0" marL="0">
              <a:buNone/>
            </a:pPr>
            <a:r>
              <a:rPr lang="en-US" sz="2600" b="1" dirty="0">
                <a:solidFill>
                  <a:srgbClr val="3B1F5E"/>
                </a:solidFill>
                <a:latin typeface="Arial" pitchFamily="34" charset="0"/>
                <a:ea typeface="Arial" pitchFamily="34" charset="-122"/>
                <a:cs typeface="Arial" pitchFamily="34" charset="-120"/>
              </a:rPr>
              <a:t>2 dias</a:t>
            </a:r>
            <a:endParaRPr lang="en-US" sz="2600" dirty="0"/>
          </a:p>
        </p:txBody>
      </p:sp>
      <p:sp>
        <p:nvSpPr>
          <p:cNvPr id="14" name="Text 12"/>
          <p:cNvSpPr txBox="1"/>
          <p:nvPr/>
        </p:nvSpPr>
        <p:spPr>
          <a:xfrm>
            <a:off x="4754880" y="2423160"/>
            <a:ext cx="1508760" cy="320040"/>
          </a:xfrm>
          <a:prstGeom prst="rect">
            <a:avLst/>
          </a:prstGeom>
          <a:noFill/>
          <a:ln/>
        </p:spPr>
        <p:txBody>
          <a:bodyPr wrap="square" lIns="0" tIns="0" rIns="0" bIns="0" rtlCol="0" anchor="ctr"/>
          <a:lstStyle/>
          <a:p>
            <a:pPr indent="0" marL="0">
              <a:buNone/>
            </a:pPr>
            <a:r>
              <a:rPr lang="en-US" sz="1300" b="1" dirty="0">
                <a:solidFill>
                  <a:srgbClr val="3B1F5E"/>
                </a:solidFill>
                <a:latin typeface="Arial" pitchFamily="34" charset="0"/>
                <a:ea typeface="Arial" pitchFamily="34" charset="-122"/>
                <a:cs typeface="Arial" pitchFamily="34" charset="-120"/>
              </a:rPr>
              <a:t>Retorno</a:t>
            </a:r>
            <a:endParaRPr lang="en-US" sz="1300" dirty="0"/>
          </a:p>
        </p:txBody>
      </p:sp>
      <p:sp>
        <p:nvSpPr>
          <p:cNvPr id="15" name="Text 13"/>
          <p:cNvSpPr txBox="1"/>
          <p:nvPr/>
        </p:nvSpPr>
        <p:spPr>
          <a:xfrm>
            <a:off x="4754880" y="2743200"/>
            <a:ext cx="1508760" cy="960120"/>
          </a:xfrm>
          <a:prstGeom prst="rect">
            <a:avLst/>
          </a:prstGeom>
          <a:noFill/>
          <a:ln/>
        </p:spPr>
        <p:txBody>
          <a:bodyPr wrap="square" lIns="0" tIns="0" rIns="0" bIns="0" rtlCol="0" anchor="t"/>
          <a:lstStyle/>
          <a:p>
            <a:pPr indent="0" marL="0">
              <a:buNone/>
            </a:pPr>
            <a:r>
              <a:rPr lang="en-US" sz="1050" dirty="0">
                <a:solidFill>
                  <a:srgbClr val="5A4A78"/>
                </a:solidFill>
                <a:latin typeface="Arial" pitchFamily="34" charset="0"/>
                <a:ea typeface="Arial" pitchFamily="34" charset="-122"/>
                <a:cs typeface="Arial" pitchFamily="34" charset="-120"/>
              </a:rPr>
              <a:t>a e-mail e WhatsApp do escritório, em até 2 dias úteis, de segunda a sexta, das 9h às 18h</a:t>
            </a:r>
            <a:endParaRPr lang="en-US" sz="1050" dirty="0"/>
          </a:p>
        </p:txBody>
      </p:sp>
      <p:sp>
        <p:nvSpPr>
          <p:cNvPr id="16" name="Shape 14"/>
          <p:cNvSpPr/>
          <p:nvPr/>
        </p:nvSpPr>
        <p:spPr>
          <a:xfrm>
            <a:off x="6629400" y="1554480"/>
            <a:ext cx="1874520" cy="2240280"/>
          </a:xfrm>
          <a:prstGeom prst="roundRect">
            <a:avLst>
              <a:gd name="adj" fmla="val 5854"/>
            </a:avLst>
          </a:prstGeom>
          <a:solidFill>
            <a:srgbClr val="F3EEFB"/>
          </a:solidFill>
          <a:ln w="12700">
            <a:solidFill>
              <a:srgbClr val="F3EEFB"/>
            </a:solidFill>
            <a:prstDash val="solid"/>
          </a:ln>
        </p:spPr>
      </p:sp>
      <p:sp>
        <p:nvSpPr>
          <p:cNvPr id="17" name="Text 15"/>
          <p:cNvSpPr txBox="1"/>
          <p:nvPr/>
        </p:nvSpPr>
        <p:spPr>
          <a:xfrm>
            <a:off x="6812280" y="1691640"/>
            <a:ext cx="1508760" cy="731520"/>
          </a:xfrm>
          <a:prstGeom prst="rect">
            <a:avLst/>
          </a:prstGeom>
          <a:noFill/>
          <a:ln/>
        </p:spPr>
        <p:txBody>
          <a:bodyPr wrap="square" lIns="0" tIns="0" rIns="0" bIns="0" rtlCol="0" anchor="ctr">
            <a:normAutofit/>
          </a:bodyPr>
          <a:lstStyle/>
          <a:p>
            <a:pPr indent="0" marL="0">
              <a:buNone/>
            </a:pPr>
            <a:r>
              <a:rPr lang="en-US" sz="2600" b="1" dirty="0">
                <a:solidFill>
                  <a:srgbClr val="3B1F5E"/>
                </a:solidFill>
                <a:latin typeface="Arial" pitchFamily="34" charset="0"/>
                <a:ea typeface="Arial" pitchFamily="34" charset="-122"/>
                <a:cs typeface="Arial" pitchFamily="34" charset="-120"/>
              </a:rPr>
              <a:t>No dia</a:t>
            </a:r>
            <a:endParaRPr lang="en-US" sz="2600" dirty="0"/>
          </a:p>
        </p:txBody>
      </p:sp>
      <p:sp>
        <p:nvSpPr>
          <p:cNvPr id="18" name="Text 16"/>
          <p:cNvSpPr txBox="1"/>
          <p:nvPr/>
        </p:nvSpPr>
        <p:spPr>
          <a:xfrm>
            <a:off x="6812280" y="2423160"/>
            <a:ext cx="1508760" cy="320040"/>
          </a:xfrm>
          <a:prstGeom prst="rect">
            <a:avLst/>
          </a:prstGeom>
          <a:noFill/>
          <a:ln/>
        </p:spPr>
        <p:txBody>
          <a:bodyPr wrap="square" lIns="0" tIns="0" rIns="0" bIns="0" rtlCol="0" anchor="ctr"/>
          <a:lstStyle/>
          <a:p>
            <a:pPr indent="0" marL="0">
              <a:buNone/>
            </a:pPr>
            <a:r>
              <a:rPr lang="en-US" sz="1300" b="1" dirty="0">
                <a:solidFill>
                  <a:srgbClr val="3B1F5E"/>
                </a:solidFill>
                <a:latin typeface="Arial" pitchFamily="34" charset="0"/>
                <a:ea typeface="Arial" pitchFamily="34" charset="-122"/>
                <a:cs typeface="Arial" pitchFamily="34" charset="-120"/>
              </a:rPr>
              <a:t>Fato relevante</a:t>
            </a:r>
            <a:endParaRPr lang="en-US" sz="1300" dirty="0"/>
          </a:p>
        </p:txBody>
      </p:sp>
      <p:sp>
        <p:nvSpPr>
          <p:cNvPr id="19" name="Text 17"/>
          <p:cNvSpPr txBox="1"/>
          <p:nvPr/>
        </p:nvSpPr>
        <p:spPr>
          <a:xfrm>
            <a:off x="6812280" y="2743200"/>
            <a:ext cx="1508760" cy="960120"/>
          </a:xfrm>
          <a:prstGeom prst="rect">
            <a:avLst/>
          </a:prstGeom>
          <a:noFill/>
          <a:ln/>
        </p:spPr>
        <p:txBody>
          <a:bodyPr wrap="square" lIns="0" tIns="0" rIns="0" bIns="0" rtlCol="0" anchor="t"/>
          <a:lstStyle/>
          <a:p>
            <a:pPr indent="0" marL="0">
              <a:buNone/>
            </a:pPr>
            <a:r>
              <a:rPr lang="en-US" sz="1050" dirty="0">
                <a:solidFill>
                  <a:srgbClr val="5A4A78"/>
                </a:solidFill>
                <a:latin typeface="Arial" pitchFamily="34" charset="0"/>
                <a:ea typeface="Arial" pitchFamily="34" charset="-122"/>
                <a:cs typeface="Arial" pitchFamily="34" charset="-120"/>
              </a:rPr>
              <a:t>aviso de qualquer movimento que mude prazo, custo ou decisão, com o que muda para você</a:t>
            </a:r>
            <a:endParaRPr lang="en-US" sz="1050" dirty="0"/>
          </a:p>
        </p:txBody>
      </p:sp>
      <p:sp>
        <p:nvSpPr>
          <p:cNvPr id="20" name="Text 18"/>
          <p:cNvSpPr txBox="1"/>
          <p:nvPr/>
        </p:nvSpPr>
        <p:spPr>
          <a:xfrm>
            <a:off x="457200" y="3977640"/>
            <a:ext cx="8229600" cy="457200"/>
          </a:xfrm>
          <a:prstGeom prst="rect">
            <a:avLst/>
          </a:prstGeom>
          <a:noFill/>
          <a:ln/>
        </p:spPr>
        <p:txBody>
          <a:bodyPr wrap="square" lIns="0" tIns="0" rIns="0" bIns="0" rtlCol="0" anchor="ctr"/>
          <a:lstStyle/>
          <a:p>
            <a:pPr indent="0" marL="0">
              <a:buNone/>
            </a:pPr>
            <a:r>
              <a:rPr lang="en-US" sz="1100" dirty="0">
                <a:solidFill>
                  <a:srgbClr val="1F1235"/>
                </a:solidFill>
                <a:latin typeface="Arial" pitchFamily="34" charset="0"/>
                <a:ea typeface="Arial" pitchFamily="34" charset="-122"/>
                <a:cs typeface="Arial" pitchFamily="34" charset="-120"/>
              </a:rPr>
              <a:t>Tudo o que for combinado nas reuniões vai por e-mail no mesmo dia, para ficar registrado. Urgências: telefone dos sócios.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400" b="1" dirty="0">
                <a:solidFill>
                  <a:srgbClr val="3B1F5E"/>
                </a:solidFill>
                <a:latin typeface="Arial" pitchFamily="34" charset="0"/>
                <a:ea typeface="Arial" pitchFamily="34" charset="-122"/>
                <a:cs typeface="Arial" pitchFamily="34" charset="-120"/>
              </a:rPr>
              <a:t>Próximos passos</a:t>
            </a:r>
            <a:endParaRPr lang="en-US" sz="2400" dirty="0"/>
          </a:p>
        </p:txBody>
      </p:sp>
      <p:sp>
        <p:nvSpPr>
          <p:cNvPr id="3" name="Text 1"/>
          <p:cNvSpPr txBox="1"/>
          <p:nvPr/>
        </p:nvSpPr>
        <p:spPr>
          <a:xfrm>
            <a:off x="457200" y="1024128"/>
            <a:ext cx="8229600" cy="320040"/>
          </a:xfrm>
          <a:prstGeom prst="rect">
            <a:avLst/>
          </a:prstGeom>
          <a:noFill/>
          <a:ln/>
        </p:spPr>
        <p:txBody>
          <a:bodyPr wrap="square" lIns="0" tIns="0" rIns="0" bIns="0" rtlCol="0" anchor="ctr"/>
          <a:lstStyle/>
          <a:p>
            <a:pPr indent="0" marL="0">
              <a:buNone/>
            </a:pPr>
            <a:r>
              <a:rPr lang="en-US" sz="1200" dirty="0">
                <a:solidFill>
                  <a:srgbClr val="5A4A78"/>
                </a:solidFill>
                <a:latin typeface="Arial" pitchFamily="34" charset="0"/>
                <a:ea typeface="Arial" pitchFamily="34" charset="-122"/>
                <a:cs typeface="Arial" pitchFamily="34" charset="-120"/>
              </a:rPr>
              <a:t>Quatro passos até o início do trabalho.</a:t>
            </a:r>
            <a:endParaRPr lang="en-US" sz="1200" dirty="0"/>
          </a:p>
        </p:txBody>
      </p:sp>
      <p:sp>
        <p:nvSpPr>
          <p:cNvPr id="4" name="Shape 2"/>
          <p:cNvSpPr/>
          <p:nvPr/>
        </p:nvSpPr>
        <p:spPr>
          <a:xfrm>
            <a:off x="457200" y="1508760"/>
            <a:ext cx="8229600" cy="640080"/>
          </a:xfrm>
          <a:prstGeom prst="roundRect">
            <a:avLst>
              <a:gd name="adj" fmla="val 14286"/>
            </a:avLst>
          </a:prstGeom>
          <a:solidFill>
            <a:srgbClr val="FFC83D"/>
          </a:solidFill>
          <a:ln w="12700">
            <a:solidFill>
              <a:srgbClr val="FFC83D"/>
            </a:solidFill>
            <a:prstDash val="solid"/>
          </a:ln>
        </p:spPr>
      </p:sp>
      <p:sp>
        <p:nvSpPr>
          <p:cNvPr id="5" name="Shape 3"/>
          <p:cNvSpPr/>
          <p:nvPr/>
        </p:nvSpPr>
        <p:spPr>
          <a:xfrm>
            <a:off x="594360" y="1600200"/>
            <a:ext cx="457200" cy="457200"/>
          </a:xfrm>
          <a:prstGeom prst="ellipse">
            <a:avLst/>
          </a:prstGeom>
          <a:solidFill>
            <a:srgbClr val="3B1F5E"/>
          </a:solidFill>
          <a:ln w="12700">
            <a:solidFill>
              <a:srgbClr val="3B1F5E"/>
            </a:solidFill>
            <a:prstDash val="solid"/>
          </a:ln>
        </p:spPr>
      </p:sp>
      <p:sp>
        <p:nvSpPr>
          <p:cNvPr id="6" name="Text 4"/>
          <p:cNvSpPr txBox="1"/>
          <p:nvPr/>
        </p:nvSpPr>
        <p:spPr>
          <a:xfrm>
            <a:off x="594360" y="16002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234440" y="1581912"/>
            <a:ext cx="2834640" cy="502920"/>
          </a:xfrm>
          <a:prstGeom prst="rect">
            <a:avLst/>
          </a:prstGeom>
          <a:noFill/>
          <a:ln/>
        </p:spPr>
        <p:txBody>
          <a:bodyPr wrap="square" lIns="0" tIns="0" rIns="0" bIns="0" rtlCol="0" anchor="ctr"/>
          <a:lstStyle/>
          <a:p>
            <a:pPr indent="0" marL="0">
              <a:buNone/>
            </a:pPr>
            <a:r>
              <a:rPr lang="en-US" sz="1200" b="1" dirty="0">
                <a:solidFill>
                  <a:srgbClr val="3B1F5E"/>
                </a:solidFill>
                <a:latin typeface="Arial" pitchFamily="34" charset="0"/>
                <a:ea typeface="Arial" pitchFamily="34" charset="-122"/>
                <a:cs typeface="Arial" pitchFamily="34" charset="-120"/>
              </a:rPr>
              <a:t>Aprovação da proposta</a:t>
            </a:r>
            <a:endParaRPr lang="en-US" sz="1200" dirty="0"/>
          </a:p>
        </p:txBody>
      </p:sp>
      <p:sp>
        <p:nvSpPr>
          <p:cNvPr id="8" name="Text 6"/>
          <p:cNvSpPr txBox="1"/>
          <p:nvPr/>
        </p:nvSpPr>
        <p:spPr>
          <a:xfrm>
            <a:off x="4114800" y="1581912"/>
            <a:ext cx="3108960" cy="502920"/>
          </a:xfrm>
          <a:prstGeom prst="rect">
            <a:avLst/>
          </a:prstGeom>
          <a:noFill/>
          <a:ln/>
        </p:spPr>
        <p:txBody>
          <a:bodyPr wrap="square" lIns="0" tIns="0" rIns="0" bIns="0" rtlCol="0" anchor="ctr"/>
          <a:lstStyle/>
          <a:p>
            <a:pPr indent="0" marL="0">
              <a:buNone/>
            </a:pPr>
            <a:r>
              <a:rPr lang="en-US" sz="1050" dirty="0">
                <a:solidFill>
                  <a:srgbClr val="1F1235"/>
                </a:solidFill>
                <a:latin typeface="Arial" pitchFamily="34" charset="0"/>
                <a:ea typeface="Arial" pitchFamily="34" charset="-122"/>
                <a:cs typeface="Arial" pitchFamily="34" charset="-120"/>
              </a:rPr>
              <a:t>por e-mail ou assinatura, com a escolha da opção A ou B</a:t>
            </a:r>
            <a:endParaRPr lang="en-US" sz="1050" dirty="0"/>
          </a:p>
        </p:txBody>
      </p:sp>
      <p:sp>
        <p:nvSpPr>
          <p:cNvPr id="9" name="Text 7"/>
          <p:cNvSpPr txBox="1"/>
          <p:nvPr/>
        </p:nvSpPr>
        <p:spPr>
          <a:xfrm>
            <a:off x="7315200" y="1581912"/>
            <a:ext cx="1234440" cy="502920"/>
          </a:xfrm>
          <a:prstGeom prst="rect">
            <a:avLst/>
          </a:prstGeom>
          <a:noFill/>
          <a:ln/>
        </p:spPr>
        <p:txBody>
          <a:bodyPr wrap="square" lIns="0" tIns="0" rIns="0" bIns="0" rtlCol="0" anchor="ctr"/>
          <a:lstStyle/>
          <a:p>
            <a:pPr algn="r" indent="0" marL="0">
              <a:buNone/>
            </a:pPr>
            <a:r>
              <a:rPr lang="en-US" sz="1050" b="1" dirty="0">
                <a:solidFill>
                  <a:srgbClr val="5A4A78"/>
                </a:solidFill>
                <a:latin typeface="Arial" pitchFamily="34" charset="0"/>
                <a:ea typeface="Arial" pitchFamily="34" charset="-122"/>
                <a:cs typeface="Arial" pitchFamily="34" charset="-120"/>
              </a:rPr>
              <a:t>até 29/09/2026</a:t>
            </a:r>
            <a:endParaRPr lang="en-US" sz="1050" dirty="0"/>
          </a:p>
        </p:txBody>
      </p:sp>
      <p:sp>
        <p:nvSpPr>
          <p:cNvPr id="10" name="Shape 8"/>
          <p:cNvSpPr/>
          <p:nvPr/>
        </p:nvSpPr>
        <p:spPr>
          <a:xfrm>
            <a:off x="457200" y="2258568"/>
            <a:ext cx="8229600" cy="640080"/>
          </a:xfrm>
          <a:prstGeom prst="roundRect">
            <a:avLst>
              <a:gd name="adj" fmla="val 14286"/>
            </a:avLst>
          </a:prstGeom>
          <a:solidFill>
            <a:srgbClr val="F3EEFB"/>
          </a:solidFill>
          <a:ln w="12700">
            <a:solidFill>
              <a:srgbClr val="F3EEFB"/>
            </a:solidFill>
            <a:prstDash val="solid"/>
          </a:ln>
        </p:spPr>
      </p:sp>
      <p:sp>
        <p:nvSpPr>
          <p:cNvPr id="11" name="Shape 9"/>
          <p:cNvSpPr/>
          <p:nvPr/>
        </p:nvSpPr>
        <p:spPr>
          <a:xfrm>
            <a:off x="594360" y="2350008"/>
            <a:ext cx="457200" cy="457200"/>
          </a:xfrm>
          <a:prstGeom prst="ellipse">
            <a:avLst/>
          </a:prstGeom>
          <a:solidFill>
            <a:srgbClr val="3B1F5E"/>
          </a:solidFill>
          <a:ln w="12700">
            <a:solidFill>
              <a:srgbClr val="3B1F5E"/>
            </a:solidFill>
            <a:prstDash val="solid"/>
          </a:ln>
        </p:spPr>
      </p:sp>
      <p:sp>
        <p:nvSpPr>
          <p:cNvPr id="12" name="Text 10"/>
          <p:cNvSpPr txBox="1"/>
          <p:nvPr/>
        </p:nvSpPr>
        <p:spPr>
          <a:xfrm>
            <a:off x="594360" y="23500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txBox="1"/>
          <p:nvPr/>
        </p:nvSpPr>
        <p:spPr>
          <a:xfrm>
            <a:off x="1234440" y="2331720"/>
            <a:ext cx="2834640" cy="502920"/>
          </a:xfrm>
          <a:prstGeom prst="rect">
            <a:avLst/>
          </a:prstGeom>
          <a:noFill/>
          <a:ln/>
        </p:spPr>
        <p:txBody>
          <a:bodyPr wrap="square" lIns="0" tIns="0" rIns="0" bIns="0" rtlCol="0" anchor="ctr"/>
          <a:lstStyle/>
          <a:p>
            <a:pPr indent="0" marL="0">
              <a:buNone/>
            </a:pPr>
            <a:r>
              <a:rPr lang="en-US" sz="1200" b="1" dirty="0">
                <a:solidFill>
                  <a:srgbClr val="3B1F5E"/>
                </a:solidFill>
                <a:latin typeface="Arial" pitchFamily="34" charset="0"/>
                <a:ea typeface="Arial" pitchFamily="34" charset="-122"/>
                <a:cs typeface="Arial" pitchFamily="34" charset="-120"/>
              </a:rPr>
              <a:t>Contrato de honorários e entrada</a:t>
            </a:r>
            <a:endParaRPr lang="en-US" sz="1200" dirty="0"/>
          </a:p>
        </p:txBody>
      </p:sp>
      <p:sp>
        <p:nvSpPr>
          <p:cNvPr id="14" name="Text 12"/>
          <p:cNvSpPr txBox="1"/>
          <p:nvPr/>
        </p:nvSpPr>
        <p:spPr>
          <a:xfrm>
            <a:off x="4114800" y="2331720"/>
            <a:ext cx="3108960" cy="502920"/>
          </a:xfrm>
          <a:prstGeom prst="rect">
            <a:avLst/>
          </a:prstGeom>
          <a:noFill/>
          <a:ln/>
        </p:spPr>
        <p:txBody>
          <a:bodyPr wrap="square" lIns="0" tIns="0" rIns="0" bIns="0" rtlCol="0" anchor="ctr"/>
          <a:lstStyle/>
          <a:p>
            <a:pPr indent="0" marL="0">
              <a:buNone/>
            </a:pPr>
            <a:r>
              <a:rPr lang="en-US" sz="1050" dirty="0">
                <a:solidFill>
                  <a:srgbClr val="1F1235"/>
                </a:solidFill>
                <a:latin typeface="Arial" pitchFamily="34" charset="0"/>
                <a:ea typeface="Arial" pitchFamily="34" charset="-122"/>
                <a:cs typeface="Arial" pitchFamily="34" charset="-120"/>
              </a:rPr>
              <a:t>assinatura e pagamento dos 40 % por Pix</a:t>
            </a:r>
            <a:endParaRPr lang="en-US" sz="1050" dirty="0"/>
          </a:p>
        </p:txBody>
      </p:sp>
      <p:sp>
        <p:nvSpPr>
          <p:cNvPr id="15" name="Text 13"/>
          <p:cNvSpPr txBox="1"/>
          <p:nvPr/>
        </p:nvSpPr>
        <p:spPr>
          <a:xfrm>
            <a:off x="7315200" y="2331720"/>
            <a:ext cx="1234440" cy="502920"/>
          </a:xfrm>
          <a:prstGeom prst="rect">
            <a:avLst/>
          </a:prstGeom>
          <a:noFill/>
          <a:ln/>
        </p:spPr>
        <p:txBody>
          <a:bodyPr wrap="square" lIns="0" tIns="0" rIns="0" bIns="0" rtlCol="0" anchor="ctr"/>
          <a:lstStyle/>
          <a:p>
            <a:pPr algn="r" indent="0" marL="0">
              <a:buNone/>
            </a:pPr>
            <a:r>
              <a:rPr lang="en-US" sz="1050" b="1" dirty="0">
                <a:solidFill>
                  <a:srgbClr val="5A4A78"/>
                </a:solidFill>
                <a:latin typeface="Arial" pitchFamily="34" charset="0"/>
                <a:ea typeface="Arial" pitchFamily="34" charset="-122"/>
                <a:cs typeface="Arial" pitchFamily="34" charset="-120"/>
              </a:rPr>
              <a:t>até 06/10/2026</a:t>
            </a:r>
            <a:endParaRPr lang="en-US" sz="1050" dirty="0"/>
          </a:p>
        </p:txBody>
      </p:sp>
      <p:sp>
        <p:nvSpPr>
          <p:cNvPr id="16" name="Shape 14"/>
          <p:cNvSpPr/>
          <p:nvPr/>
        </p:nvSpPr>
        <p:spPr>
          <a:xfrm>
            <a:off x="457200" y="3008376"/>
            <a:ext cx="8229600" cy="640080"/>
          </a:xfrm>
          <a:prstGeom prst="roundRect">
            <a:avLst>
              <a:gd name="adj" fmla="val 14286"/>
            </a:avLst>
          </a:prstGeom>
          <a:solidFill>
            <a:srgbClr val="F3EEFB"/>
          </a:solidFill>
          <a:ln w="12700">
            <a:solidFill>
              <a:srgbClr val="F3EEFB"/>
            </a:solidFill>
            <a:prstDash val="solid"/>
          </a:ln>
        </p:spPr>
      </p:sp>
      <p:sp>
        <p:nvSpPr>
          <p:cNvPr id="17" name="Shape 15"/>
          <p:cNvSpPr/>
          <p:nvPr/>
        </p:nvSpPr>
        <p:spPr>
          <a:xfrm>
            <a:off x="594360" y="3099816"/>
            <a:ext cx="457200" cy="457200"/>
          </a:xfrm>
          <a:prstGeom prst="ellipse">
            <a:avLst/>
          </a:prstGeom>
          <a:solidFill>
            <a:srgbClr val="3B1F5E"/>
          </a:solidFill>
          <a:ln w="12700">
            <a:solidFill>
              <a:srgbClr val="3B1F5E"/>
            </a:solidFill>
            <a:prstDash val="solid"/>
          </a:ln>
        </p:spPr>
      </p:sp>
      <p:sp>
        <p:nvSpPr>
          <p:cNvPr id="18" name="Text 16"/>
          <p:cNvSpPr txBox="1"/>
          <p:nvPr/>
        </p:nvSpPr>
        <p:spPr>
          <a:xfrm>
            <a:off x="594360" y="30998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1234440" y="3081528"/>
            <a:ext cx="2834640" cy="502920"/>
          </a:xfrm>
          <a:prstGeom prst="rect">
            <a:avLst/>
          </a:prstGeom>
          <a:noFill/>
          <a:ln/>
        </p:spPr>
        <p:txBody>
          <a:bodyPr wrap="square" lIns="0" tIns="0" rIns="0" bIns="0" rtlCol="0" anchor="ctr"/>
          <a:lstStyle/>
          <a:p>
            <a:pPr indent="0" marL="0">
              <a:buNone/>
            </a:pPr>
            <a:r>
              <a:rPr lang="en-US" sz="1200" b="1" dirty="0">
                <a:solidFill>
                  <a:srgbClr val="3B1F5E"/>
                </a:solidFill>
                <a:latin typeface="Arial" pitchFamily="34" charset="0"/>
                <a:ea typeface="Arial" pitchFamily="34" charset="-122"/>
                <a:cs typeface="Arial" pitchFamily="34" charset="-120"/>
              </a:rPr>
              <a:t>Reunião de abertura (1 hora)</a:t>
            </a:r>
            <a:endParaRPr lang="en-US" sz="1200" dirty="0"/>
          </a:p>
        </p:txBody>
      </p:sp>
      <p:sp>
        <p:nvSpPr>
          <p:cNvPr id="20" name="Text 18"/>
          <p:cNvSpPr txBox="1"/>
          <p:nvPr/>
        </p:nvSpPr>
        <p:spPr>
          <a:xfrm>
            <a:off x="4114800" y="3081528"/>
            <a:ext cx="3108960" cy="502920"/>
          </a:xfrm>
          <a:prstGeom prst="rect">
            <a:avLst/>
          </a:prstGeom>
          <a:noFill/>
          <a:ln/>
        </p:spPr>
        <p:txBody>
          <a:bodyPr wrap="square" lIns="0" tIns="0" rIns="0" bIns="0" rtlCol="0" anchor="ctr"/>
          <a:lstStyle/>
          <a:p>
            <a:pPr indent="0" marL="0">
              <a:buNone/>
            </a:pPr>
            <a:r>
              <a:rPr lang="en-US" sz="1050" dirty="0">
                <a:solidFill>
                  <a:srgbClr val="1F1235"/>
                </a:solidFill>
                <a:latin typeface="Arial" pitchFamily="34" charset="0"/>
                <a:ea typeface="Arial" pitchFamily="34" charset="-122"/>
                <a:cs typeface="Arial" pitchFamily="34" charset="-120"/>
              </a:rPr>
              <a:t>entrega dos documentos e plano de trabalho</a:t>
            </a:r>
            <a:endParaRPr lang="en-US" sz="1050" dirty="0"/>
          </a:p>
        </p:txBody>
      </p:sp>
      <p:sp>
        <p:nvSpPr>
          <p:cNvPr id="21" name="Text 19"/>
          <p:cNvSpPr txBox="1"/>
          <p:nvPr/>
        </p:nvSpPr>
        <p:spPr>
          <a:xfrm>
            <a:off x="7315200" y="3081528"/>
            <a:ext cx="1234440" cy="502920"/>
          </a:xfrm>
          <a:prstGeom prst="rect">
            <a:avLst/>
          </a:prstGeom>
          <a:noFill/>
          <a:ln/>
        </p:spPr>
        <p:txBody>
          <a:bodyPr wrap="square" lIns="0" tIns="0" rIns="0" bIns="0" rtlCol="0" anchor="ctr"/>
          <a:lstStyle/>
          <a:p>
            <a:pPr algn="r" indent="0" marL="0">
              <a:buNone/>
            </a:pPr>
            <a:r>
              <a:rPr lang="en-US" sz="1050" b="1" dirty="0">
                <a:solidFill>
                  <a:srgbClr val="5A4A78"/>
                </a:solidFill>
                <a:latin typeface="Arial" pitchFamily="34" charset="0"/>
                <a:ea typeface="Arial" pitchFamily="34" charset="-122"/>
                <a:cs typeface="Arial" pitchFamily="34" charset="-120"/>
              </a:rPr>
              <a:t>semana de 12/10/2026</a:t>
            </a:r>
            <a:endParaRPr lang="en-US" sz="1050" dirty="0"/>
          </a:p>
        </p:txBody>
      </p:sp>
      <p:sp>
        <p:nvSpPr>
          <p:cNvPr id="22" name="Shape 20"/>
          <p:cNvSpPr/>
          <p:nvPr/>
        </p:nvSpPr>
        <p:spPr>
          <a:xfrm>
            <a:off x="457200" y="3758184"/>
            <a:ext cx="8229600" cy="640080"/>
          </a:xfrm>
          <a:prstGeom prst="roundRect">
            <a:avLst>
              <a:gd name="adj" fmla="val 14286"/>
            </a:avLst>
          </a:prstGeom>
          <a:solidFill>
            <a:srgbClr val="F3EEFB"/>
          </a:solidFill>
          <a:ln w="12700">
            <a:solidFill>
              <a:srgbClr val="F3EEFB"/>
            </a:solidFill>
            <a:prstDash val="solid"/>
          </a:ln>
        </p:spPr>
      </p:sp>
      <p:sp>
        <p:nvSpPr>
          <p:cNvPr id="23" name="Shape 21"/>
          <p:cNvSpPr/>
          <p:nvPr/>
        </p:nvSpPr>
        <p:spPr>
          <a:xfrm>
            <a:off x="594360" y="3849624"/>
            <a:ext cx="457200" cy="457200"/>
          </a:xfrm>
          <a:prstGeom prst="ellipse">
            <a:avLst/>
          </a:prstGeom>
          <a:solidFill>
            <a:srgbClr val="3B1F5E"/>
          </a:solidFill>
          <a:ln w="12700">
            <a:solidFill>
              <a:srgbClr val="3B1F5E"/>
            </a:solidFill>
            <a:prstDash val="solid"/>
          </a:ln>
        </p:spPr>
      </p:sp>
      <p:sp>
        <p:nvSpPr>
          <p:cNvPr id="24" name="Text 22"/>
          <p:cNvSpPr txBox="1"/>
          <p:nvPr/>
        </p:nvSpPr>
        <p:spPr>
          <a:xfrm>
            <a:off x="594360" y="38496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1234440" y="3831336"/>
            <a:ext cx="2834640" cy="502920"/>
          </a:xfrm>
          <a:prstGeom prst="rect">
            <a:avLst/>
          </a:prstGeom>
          <a:noFill/>
          <a:ln/>
        </p:spPr>
        <p:txBody>
          <a:bodyPr wrap="square" lIns="0" tIns="0" rIns="0" bIns="0" rtlCol="0" anchor="ctr"/>
          <a:lstStyle/>
          <a:p>
            <a:pPr indent="0" marL="0">
              <a:buNone/>
            </a:pPr>
            <a:r>
              <a:rPr lang="en-US" sz="1200" b="1" dirty="0">
                <a:solidFill>
                  <a:srgbClr val="3B1F5E"/>
                </a:solidFill>
                <a:latin typeface="Arial" pitchFamily="34" charset="0"/>
                <a:ea typeface="Arial" pitchFamily="34" charset="-122"/>
                <a:cs typeface="Arial" pitchFamily="34" charset="-120"/>
              </a:rPr>
              <a:t>Primeiro relatório de andamento</a:t>
            </a:r>
            <a:endParaRPr lang="en-US" sz="1200" dirty="0"/>
          </a:p>
        </p:txBody>
      </p:sp>
      <p:sp>
        <p:nvSpPr>
          <p:cNvPr id="26" name="Text 24"/>
          <p:cNvSpPr txBox="1"/>
          <p:nvPr/>
        </p:nvSpPr>
        <p:spPr>
          <a:xfrm>
            <a:off x="4114800" y="3831336"/>
            <a:ext cx="3108960" cy="502920"/>
          </a:xfrm>
          <a:prstGeom prst="rect">
            <a:avLst/>
          </a:prstGeom>
          <a:noFill/>
          <a:ln/>
        </p:spPr>
        <p:txBody>
          <a:bodyPr wrap="square" lIns="0" tIns="0" rIns="0" bIns="0" rtlCol="0" anchor="ctr"/>
          <a:lstStyle/>
          <a:p>
            <a:pPr indent="0" marL="0">
              <a:buNone/>
            </a:pPr>
            <a:r>
              <a:rPr lang="en-US" sz="1050" dirty="0">
                <a:solidFill>
                  <a:srgbClr val="1F1235"/>
                </a:solidFill>
                <a:latin typeface="Arial" pitchFamily="34" charset="0"/>
                <a:ea typeface="Arial" pitchFamily="34" charset="-122"/>
                <a:cs typeface="Arial" pitchFamily="34" charset="-120"/>
              </a:rPr>
              <a:t>com o resultado da etapa 1 e o plano da etapa 2</a:t>
            </a:r>
            <a:endParaRPr lang="en-US" sz="1050" dirty="0"/>
          </a:p>
        </p:txBody>
      </p:sp>
      <p:sp>
        <p:nvSpPr>
          <p:cNvPr id="27" name="Text 25"/>
          <p:cNvSpPr txBox="1"/>
          <p:nvPr/>
        </p:nvSpPr>
        <p:spPr>
          <a:xfrm>
            <a:off x="7315200" y="3831336"/>
            <a:ext cx="1234440" cy="502920"/>
          </a:xfrm>
          <a:prstGeom prst="rect">
            <a:avLst/>
          </a:prstGeom>
          <a:noFill/>
          <a:ln/>
        </p:spPr>
        <p:txBody>
          <a:bodyPr wrap="square" lIns="0" tIns="0" rIns="0" bIns="0" rtlCol="0" anchor="ctr"/>
          <a:lstStyle/>
          <a:p>
            <a:pPr algn="r" indent="0" marL="0">
              <a:buNone/>
            </a:pPr>
            <a:r>
              <a:rPr lang="en-US" sz="1050" b="1" dirty="0">
                <a:solidFill>
                  <a:srgbClr val="5A4A78"/>
                </a:solidFill>
                <a:latin typeface="Arial" pitchFamily="34" charset="0"/>
                <a:ea typeface="Arial" pitchFamily="34" charset="-122"/>
                <a:cs typeface="Arial" pitchFamily="34" charset="-120"/>
              </a:rPr>
              <a:t>até 30/10/2026</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548640"/>
            <a:ext cx="8229600" cy="82296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Arial" pitchFamily="34" charset="0"/>
                <a:ea typeface="Arial" pitchFamily="34" charset="-122"/>
                <a:cs typeface="Arial" pitchFamily="34" charset="-120"/>
              </a:rPr>
              <a:t>Contato</a:t>
            </a:r>
            <a:endParaRPr lang="en-US" sz="3000" dirty="0"/>
          </a:p>
        </p:txBody>
      </p:sp>
      <p:sp>
        <p:nvSpPr>
          <p:cNvPr id="3" name="Text 1"/>
          <p:cNvSpPr txBox="1"/>
          <p:nvPr/>
        </p:nvSpPr>
        <p:spPr>
          <a:xfrm>
            <a:off x="457200" y="1554480"/>
            <a:ext cx="777240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latin typeface="Arial" pitchFamily="34" charset="0"/>
                <a:ea typeface="Arial" pitchFamily="34" charset="-122"/>
                <a:cs typeface="Arial" pitchFamily="34" charset="-120"/>
              </a:rPr>
              <a:t>Marina Ferraz · sócia responsável · [e-mail] · [telefone]</a:t>
            </a:r>
            <a:endParaRPr lang="en-US" sz="1500" dirty="0"/>
          </a:p>
          <a:p>
            <a:pPr marL="342900" indent="-342900">
              <a:spcAft>
                <a:spcPts val="800"/>
              </a:spcAft>
              <a:buSzPct val="100000"/>
              <a:buChar char="•"/>
            </a:pPr>
            <a:r>
              <a:rPr lang="en-US" sz="1500" dirty="0">
                <a:solidFill>
                  <a:srgbClr val="FFFFFF"/>
                </a:solidFill>
                <a:latin typeface="Arial" pitchFamily="34" charset="0"/>
                <a:ea typeface="Arial" pitchFamily="34" charset="-122"/>
                <a:cs typeface="Arial" pitchFamily="34" charset="-120"/>
              </a:rPr>
              <a:t>Rafael Lima · sócio · [e-mail] · [telefone]</a:t>
            </a:r>
            <a:endParaRPr lang="en-US" sz="1500" dirty="0"/>
          </a:p>
          <a:p>
            <a:pPr marL="342900" indent="-342900">
              <a:spcAft>
                <a:spcPts val="800"/>
              </a:spcAft>
              <a:buSzPct val="100000"/>
              <a:buChar char="•"/>
            </a:pPr>
            <a:r>
              <a:rPr lang="en-US" sz="1500" dirty="0">
                <a:solidFill>
                  <a:srgbClr val="FFFFFF"/>
                </a:solidFill>
                <a:latin typeface="Arial" pitchFamily="34" charset="0"/>
                <a:ea typeface="Arial" pitchFamily="34" charset="-122"/>
                <a:cs typeface="Arial" pitchFamily="34" charset="-120"/>
              </a:rPr>
              <a:t>Ferraz &amp; Lima Advocacia · [endereço] · seg. a sex., 9h às 18h</a:t>
            </a:r>
            <a:endParaRPr lang="en-US" sz="1500" dirty="0"/>
          </a:p>
        </p:txBody>
      </p:sp>
      <p:sp>
        <p:nvSpPr>
          <p:cNvPr id="4" name="Text 2"/>
          <p:cNvSpPr txBox="1"/>
          <p:nvPr/>
        </p:nvSpPr>
        <p:spPr>
          <a:xfrm>
            <a:off x="457200" y="4114800"/>
            <a:ext cx="8229600" cy="548640"/>
          </a:xfrm>
          <a:prstGeom prst="rect">
            <a:avLst/>
          </a:prstGeom>
          <a:noFill/>
          <a:ln/>
        </p:spPr>
        <p:txBody>
          <a:bodyPr wrap="square" lIns="0" tIns="0" rIns="0" bIns="0" rtlCol="0" anchor="t"/>
          <a:lstStyle/>
          <a:p>
            <a:pPr indent="0" marL="0">
              <a:buNone/>
            </a:pPr>
            <a:r>
              <a:rPr lang="en-US" sz="1100" dirty="0">
                <a:solidFill>
                  <a:srgbClr val="B89BE0"/>
                </a:solidFill>
                <a:latin typeface="Arial" pitchFamily="34" charset="0"/>
                <a:ea typeface="Arial" pitchFamily="34" charset="-122"/>
                <a:cs typeface="Arial" pitchFamily="34" charset="-120"/>
              </a:rPr>
              <a:t>Troque os colchetes pelos dados reais antes de enviar. Esta apresentação acompanha a proposta em PDF; as condições finais ficam no contrato de honorários.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Proposta de honorários · modelo de 10 slides</dc:title>
  <dc:subject>PptxGenJS Presentation</dc:subject>
  <dc:creator>Kit de Gestão para Advogados</dc:creator>
  <cp:lastModifiedBy>Kit de Gestão para Advogados</cp:lastModifiedBy>
  <cp:revision>1</cp:revision>
  <dcterms:created xsi:type="dcterms:W3CDTF">2026-09-14T19:14:50Z</dcterms:created>
  <dcterms:modified xsi:type="dcterms:W3CDTF">2026-09-14T19:14:50Z</dcterms:modified>
</cp:coreProperties>
</file>