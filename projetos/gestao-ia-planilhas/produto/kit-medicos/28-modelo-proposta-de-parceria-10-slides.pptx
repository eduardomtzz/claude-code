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Produção mensal (R$)</c:v>
                </c:pt>
              </c:strCache>
            </c:strRef>
          </c:tx>
          <c:spPr>
            <a:solidFill>
              <a:srgbClr val="3B1F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123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Jan</c:v>
                  </c:pt>
                  <c:pt idx="1">
                    <c:v>Fev</c:v>
                  </c:pt>
                  <c:pt idx="2">
                    <c:v>Mar</c:v>
                  </c:pt>
                  <c:pt idx="3">
                    <c:v>Abr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7450</c:v>
                </c:pt>
                <c:pt idx="1">
                  <c:v>6510</c:v>
                </c:pt>
                <c:pt idx="2">
                  <c:v>12100</c:v>
                </c:pt>
                <c:pt idx="3">
                  <c:v>8770</c:v>
                </c:pt>
                <c:pt idx="4">
                  <c:v>10490</c:v>
                </c:pt>
                <c:pt idx="5">
                  <c:v>9440</c:v>
                </c:pt>
                <c:pt idx="6">
                  <c:v>9690</c:v>
                </c:pt>
                <c:pt idx="7">
                  <c:v>10380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F123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00"/>
          <c:min val="0"/>
        </c:scaling>
        <c:delete val="0"/>
        <c:axPos val="l"/>
        <c:majorGridlines>
          <c:spPr>
            <a:ln w="6350" cap="flat">
              <a:solidFill>
                <a:srgbClr val="E6DFF2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4A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Modelo do Kit de Gestão para Médicos (v1.0, set/2026): troque os textos e mantenha a estrutura. O símbolo do canto está no slide mestre (Exibir &gt; Slide mestre): apague lá uma vez e some de todos. Capa. O título diz o que a clínica propõe, em linguagem do médico convidado. Validade sempre na capa. Turnos e sala vêm da Agenda (01, Config); o percentual de repasse, da planilha 11. O custo da hora (05), o custo da estrutura e a margem da parceria (11) ficam na clínica e não aparecem em nenhum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A clínica. Cartões com o que existe: salas, equipe, pagadores, horário. Corrija o texto do segundo cartão para a sua equipe. Nada de ocupação, faturamento ou custo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Proposta. Turnos, sala e horas: são as linhas de Config da Agenda (01). Deixe claro que o parceiro escolhe quais convênios atende. A tabela particular é combinada, não imposta; a divulgação de preços segue as regras do CFM.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O que a clínica fornece. É o slide que justifica o percentual. Liste o que costuma ficar invisível: confirmação, cobrança, nota, guia, glosa. O recurso de glosa por motivo clínico é do médico (o prontuário é dele); o administrativo, da clínica.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O que o parceiro fornece. Seis itens administrativos; nenhum clínico. A frase sobre a formalização (PJ, nota, contrato) é para não prometer um formato que o contador ainda não confirmou: o kit não traz modelo de contrato.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Repasse. Tabela nativa: clique e edite. Mostre a conta com dois ou três atendimentos, não com a produção total da clínica. O percentual e a base (produção ou recebido) são os da Config da planilha 11. O que fica com a clínica paga sala, recepção, cobrança e glosa: não coloque aqui o custo da estrutura por hora nem a margem da parceria.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Exemplo real. Só com autorização do parceiro atual, e só produção, horas e repasse (planilhas 01 e 11). Nenhum paciente, nenhum dado clínico, nenhum número interno da clínica. Se não houver parceiro ainda, troque por uma simulação e diga que é simulação. Gráfico nativo: clique &gt; Editar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Regras. Seis temas administrativos, uma linha cada. Não são cláusulas: são os combinados que o contador e o jurídico vão transformar em acordo. Nada clínico entra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Próximos passos com data. O primeiro é a decisão do parceiro (validade da proposta, 15 dias); o segundo é a formalização, que depende do contador; os outros mostram que a clínica já tem o caminho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de Gestão para Médicos · modelo v1.0 · set/2026 · Fechamento: contato de quem responde, com horário. Preencha [e-mail], [telefone] e [endereço]: os colchetes existem para ninguém enviar contato de exemplo. Não termine com "obrigado": termine com como falar com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4846320"/>
            <a:ext cx="192024" cy="64008"/>
          </a:xfrm>
          <a:prstGeom prst="rect">
            <a:avLst>
              <a:gd name="adj" fmla="val 42857"/>
            </a:avLst>
          </a:prstGeom>
          <a:solidFill>
            <a:srgbClr val="7A5AA8"/>
          </a:solidFill>
          <a:ln w="12700">
            <a:solidFill>
              <a:srgbClr val="7A5A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4764024"/>
            <a:ext cx="192024" cy="64008"/>
          </a:xfrm>
          <a:prstGeom prst="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4681728"/>
            <a:ext cx="192024" cy="64008"/>
          </a:xfrm>
          <a:prstGeom prst="rect">
            <a:avLst>
              <a:gd name="adj" fmla="val 42857"/>
            </a:avLst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04504" y="4864608"/>
            <a:ext cx="59436" cy="59436"/>
          </a:xfrm>
          <a:prstGeom prst="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3B1F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4846320"/>
            <a:ext cx="192024" cy="64008"/>
          </a:xfrm>
          <a:prstGeom prst="rect">
            <a:avLst>
              <a:gd name="adj" fmla="val 42857"/>
            </a:avLst>
          </a:prstGeom>
          <a:solidFill>
            <a:srgbClr val="B89BE0"/>
          </a:solidFill>
          <a:ln w="12700">
            <a:solidFill>
              <a:srgbClr val="B89B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4764024"/>
            <a:ext cx="192024" cy="64008"/>
          </a:xfrm>
          <a:prstGeom prst="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4681728"/>
            <a:ext cx="192024" cy="64008"/>
          </a:xfrm>
          <a:prstGeom prst="rect">
            <a:avLst>
              <a:gd name="adj" fmla="val 42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04504" y="4864608"/>
            <a:ext cx="59436" cy="59436"/>
          </a:xfrm>
          <a:prstGeom prst="rect">
            <a:avLst>
              <a:gd name="adj" fmla="val 50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parceria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[Nome do médico] · [especialidade] · 14 de setembro de 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918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Preparada pela Clínica Vida Plena (exemplo fictício). Dois turnos por semana na Sala 2, por repasse sobre a produção. Proposta válida por 15 dias, até 29 de setembro de 2026.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clínica hoje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que o parceiro precisa saber para decidir: estrutura, equipe, pagadores e horário. Sem números internos.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874520" cy="2240280"/>
          </a:xfrm>
          <a:prstGeom prst="roundRect">
            <a:avLst>
              <a:gd name="adj" fmla="val 5854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Salas de atendimento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43200"/>
            <a:ext cx="1508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1 e Sala 2, com recepção e sala de espera compartilhadas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14600" y="1554480"/>
            <a:ext cx="1874520" cy="2240280"/>
          </a:xfrm>
          <a:prstGeom prst="roundRect">
            <a:avLst>
              <a:gd name="adj" fmla="val 5854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97480" y="16916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423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atendendo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2743200"/>
            <a:ext cx="1508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sócios (clínica médica e cardiologia) e uma parceira (endocrinologia)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0" y="1554480"/>
            <a:ext cx="1874520" cy="2240280"/>
          </a:xfrm>
          <a:prstGeom prst="roundRect">
            <a:avLst>
              <a:gd name="adj" fmla="val 5854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+ particular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423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Pagadores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743200"/>
            <a:ext cx="1508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Saúde Total, MediPlan e Vida Care credenciados; particular à vista e a prazo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629400" y="1554480"/>
            <a:ext cx="1874520" cy="2240280"/>
          </a:xfrm>
          <a:prstGeom prst="roundRect">
            <a:avLst>
              <a:gd name="adj" fmla="val 5854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169164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seg. a sex.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2423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Horário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12280" y="2743200"/>
            <a:ext cx="1508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manhã (8h às 12h) e tarde (13h às 17h); recepção o dia inteiro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Equipe: Dra. Carolina Mendes (sócia, clínica médica), Dr. Paulo Andrade (sócio, cardiologia), Dra. Renata Sousa (parceira, endocrinologia, dois turnos por semana) e Bruna Carvalho (recepção). Exames realizados na clínica: ECG, MAPA, Holter e teste ergométrico.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propomos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turnos fixos por semana, na mesma sala, com agenda aberta a particular e aos convênios que o parceiro aceitar.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Segunda-feira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tarde · 13h às 17h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68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2 · 4 horas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1371600"/>
          </a:xfrm>
          <a:prstGeom prst="roundRect">
            <a:avLst>
              <a:gd name="adj" fmla="val 8000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645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Quarta-feira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1031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tarde · 13h às 17h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468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2 · 4 horas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0896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horas de agenda por semana, cerca de 32 horas por mês (feriados descontados); consultas de [30] minutos e retornos de [20], ou a duração que a especialidade pedir.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aberta a particular e aos convênios credenciados que o parceiro aceitar atender; a tabela particular da especialidade é combinada entre o parceiro e a clínica antes do primeiro turno.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previsto: [19/10/2026]. Revisão da parceria a cada seis meses (turnos, tabela, percentual).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clínica fornece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o que está fora da consulta. O parceiro chega, atende e vai embora sem pensar em agenda, guia ou cobrança.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108960"/>
          </a:xfrm>
          <a:prstGeom prst="roundRect">
            <a:avLst>
              <a:gd name="adj" fmla="val 3529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00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1168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Sala equipada e higienizada, com material básico de consulta.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Recepção e sala de espera; sistema de agenda; energia, internet e telefone.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Equipamentos da clínica (ECG, MAPA, Holter) para exames indicados pelo parceiro, com agendamento pela recepção.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4023360" cy="3108960"/>
          </a:xfrm>
          <a:prstGeom prst="roundRect">
            <a:avLst>
              <a:gd name="adj" fmla="val 3529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92040" y="1600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2011680"/>
            <a:ext cx="3566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Agendamento, confirmação de véspera por mensagem e remarcação de faltas.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do particular (à vista e a prazo), nota fiscal e conciliação de cartão.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Guias de convênio, envio dos lotes, acompanhamento do pagamento e recurso administrativo de glosa.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parceiro fornece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Responsabilidade profissional e presença nos turnos. O prontuário e a conduta são do médico; a clínica não interfere.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8229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Inscrição ativa no CRM e registro de especialidade [RQE], com cópia para o cadastro da clínica.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nos dois turnos combinados; ausência avisada com [15] dias, para a recepção remarcar os pacientes.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 e prontuário sob a sua responsabilidade, no sistema da clínica ou no seu, conforme combinado, com sigilo e guarda pelas regras do CFM e da LGPD.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Instrumentos e materiais específicos da especialidade que a clínica não tenha: [liste].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jurídica própria e nota fiscal para a clínica a cada repasse, no formato que o contador da clínica e o seu definirem (a formalização da parceria, contrato incluído, é combinada com o contador e com quem cuida do jurídico dos dois lados).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 material de divulgação com o nome da clínica ou do parceiro é aprovado pelos dois e segue a Resolução CFM 2.336/2023.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Repasse: como se calcula e quando é pago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Percentual sobre a produção do mês (valor de tabela dos atendimentos realizados), pago no dia 10 do mês seguinte, com demonstrativo.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Atendimento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de tabela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Parceiro (50 %)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Clínica (50 %)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particular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Retorno particular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pelo convênio Saúde Total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endócrina particular (exemplo da especialidade)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R$ 200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base é a produção realizada no mês, registrada na agenda da clínica; o demonstrativo acompanha o pagamento. Faltas e cancelamentos não geram repasse; retorno sem cobrança também não.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 de convênio é por conta da clínica: o parceiro recebe pelo valor de tabela. Alternativa, se preferirem: [ ] % sobre o valor efetivamente recebido, com o prazo do convênio.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no dia 10 do mês seguinte, por transferência, contra a nota fiscal do parceiro.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funciona na prática: a parceria da Dra. Renata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Endocrinologia, dois turnos por semana (terça e quinta à tarde, Sala 1) desde janeiro de 2026. Números de produção e repasse, com autorização dela.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47548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394960" y="146304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577840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R$ 10.380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577840" y="19659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de agosto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577840" y="2194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avaliações endócrinas em 23,7 horas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394960" y="260604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77840" y="2679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R$ 5.190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31089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 de agosto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577840" y="3337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 em 10 de setembro, com demonstrativo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394960" y="37490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Janeiro a agosto: R$ 74.830 de produção e R$ 37.415 de repasse, sempre no dia 10. A agenda dela está em 88 % de ocupação em setembro.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administrativas combinadas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não haver atrito depois. Tudo isto vai para o acordo escrito, no formato que o contador e o jurídico definirem.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fica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1F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recepção marca e confirma; o parceiro define a duração de cada procedimento e pode bloquear horários com [7] dias de aviso.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Faltas e cancelamentos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Confirmação de véspera pela recepção; política de faltas da clínica vale para todos os profissionais.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Convênios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parceiro escolhe quais atende; guias preenchidas no dia; lote enviado pela clínica no dia 5; glosa administrativa recorrida pela clínica, glosa clínica pelo médico.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Prontuário e sigilo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médico. Nenhum dado de paciente sai da clínica nem entra em ferramenta de IA pública; regras do guia LGPD da clínica.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Divulgação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Qualquer material com o nome da clínica ou do parceiro é aprovado pelos dois e segue as regras do CFM e do CRM.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2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cada seis meses: turnos, tabela, percentual, ocupação. Qualquer um dos lados encerra com [30] dias de aviso, cumprindo a agenda já marcada.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passos até o primeiro turno.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FC83D"/>
          </a:solidFill>
          <a:ln w="12700">
            <a:solidFill>
              <a:srgbClr val="FFC8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600200"/>
            <a:ext cx="457200" cy="457200"/>
          </a:xfrm>
          <a:prstGeom prst="ellipse">
            <a:avLst/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8191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 à proposta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58191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e-mail ou mensagem, com os turnos e convênios que aceita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1581912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29/09/2026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258568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350008"/>
            <a:ext cx="457200" cy="457200"/>
          </a:xfrm>
          <a:prstGeom prst="ellipse">
            <a:avLst/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350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331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Formalização com o contador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23317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de parceria, nota fiscal e formato do repasse definidos pelos dois lados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2331720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06/10/2026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008376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" y="3099816"/>
            <a:ext cx="457200" cy="457200"/>
          </a:xfrm>
          <a:prstGeom prst="ellipse">
            <a:avLst/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3099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081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Cadastro e visita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0815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da especialidade na agenda, cadastro no sistema, conhecer a recepção e a sala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3081528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 de 12/10/2026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58184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3EEFB"/>
          </a:solidFill>
          <a:ln w="12700">
            <a:solidFill>
              <a:srgbClr val="F3EEF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849624"/>
            <a:ext cx="457200" cy="457200"/>
          </a:xfrm>
          <a:prstGeom prst="ellipse">
            <a:avLst/>
          </a:prstGeom>
          <a:solidFill>
            <a:srgbClr val="3B1F5E"/>
          </a:solidFill>
          <a:ln w="12700">
            <a:solidFill>
              <a:srgbClr val="3B1F5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383133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1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turno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383133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aberta com duas semanas de antecedência; primeiro repasse em 10/11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3831336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A4A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19/10/2026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554480"/>
            <a:ext cx="7772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Dra. Carolina Mendes · sócia · [e-mail] · [telefone]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Paulo Andrade · sócio · [e-mail] · [telefone]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Clínica Vida Plena · [endereço] · seg. a sex., 8h às 17h · recepção: [telefone]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9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os colchetes pelos dados reais antes de enviar. Esta apresentação é uma proposta comercial entre profissionais; as condições finais ficam no acordo escrito. Não é material de divulgação ao público.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de parceria · modelo de 10 slides</dc:title>
  <dc:subject>PptxGenJS Presentation</dc:subject>
  <dc:creator>Kit de Gestão para Médicos</dc:creator>
  <cp:lastModifiedBy>Kit de Gestão para Médicos</cp:lastModifiedBy>
  <cp:revision>1</cp:revision>
  <dcterms:created xsi:type="dcterms:W3CDTF">2026-09-14T22:07:29Z</dcterms:created>
  <dcterms:modified xsi:type="dcterms:W3CDTF">2026-09-14T22:07:29Z</dcterms:modified>
</cp:coreProperties>
</file>