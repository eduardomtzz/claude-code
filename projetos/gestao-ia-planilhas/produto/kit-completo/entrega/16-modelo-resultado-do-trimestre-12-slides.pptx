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Progresso</c:v>
                </c:pt>
              </c:strCache>
            </c:strRef>
          </c:tx>
          <c:spPr>
            <a:solidFill>
              <a:srgbClr val="3B1F5E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23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Crescer receita recorrente</c:v>
                  </c:pt>
                  <c:pt idx="1">
                    <c:v>Entregar no prazo</c:v>
                  </c:pt>
                  <c:pt idx="2">
                    <c:v>Reduzir retrabalho</c:v>
                  </c:pt>
                  <c:pt idx="3">
                    <c:v>Organizar a casa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82</c:v>
                </c:pt>
                <c:pt idx="1">
                  <c:v>53</c:v>
                </c:pt>
                <c:pt idx="2">
                  <c:v>57</c:v>
                </c:pt>
                <c:pt idx="3">
                  <c:v>58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F123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4A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6DF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4A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Receita recorrente (R$ mil)</c:v>
                </c:pt>
              </c:strCache>
            </c:strRef>
          </c:tx>
          <c:spPr>
            <a:solidFill>
              <a:srgbClr val="3B1F5E"/>
            </a:solidFill>
            <a:ln w="38100" cap="flat">
              <a:solidFill>
                <a:srgbClr val="3B1F5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B1F5E"/>
              </a:solidFill>
              <a:ln w="9525" cap="flat">
                <a:solidFill>
                  <a:srgbClr val="3B1F5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Jul</c:v>
                  </c:pt>
                  <c:pt idx="1">
                    <c:v>Ago</c:v>
                  </c:pt>
                  <c:pt idx="2">
                    <c:v>Set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22.5</c:v>
                </c:pt>
                <c:pt idx="2">
                  <c:v>27.4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</c:v>
                </c:pt>
              </c:strCache>
            </c:strRef>
          </c:tx>
          <c:spPr>
            <a:solidFill>
              <a:srgbClr val="FFC83D"/>
            </a:solidFill>
            <a:ln w="38100" cap="flat">
              <a:solidFill>
                <a:srgbClr val="FFC8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FC83D"/>
              </a:solidFill>
              <a:ln w="9525" cap="flat">
                <a:solidFill>
                  <a:srgbClr val="FFC8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Jul</c:v>
                  </c:pt>
                  <c:pt idx="1">
                    <c:v>Ago</c:v>
                  </c:pt>
                  <c:pt idx="2">
                    <c:v>Set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</c:v>
                </c:pt>
                <c:pt idx="1">
                  <c:v>30</c:v>
                </c:pt>
                <c:pt idx="2">
                  <c:v>30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4A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6350" cap="flat">
              <a:solidFill>
                <a:srgbClr val="E6DF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4A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Aprovadas de primeira (%)</c:v>
                </c:pt>
              </c:strCache>
            </c:strRef>
          </c:tx>
          <c:spPr>
            <a:solidFill>
              <a:srgbClr val="7A5AA8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Jul</c:v>
                  </c:pt>
                  <c:pt idx="1">
                    <c:v>Ago</c:v>
                  </c:pt>
                  <c:pt idx="2">
                    <c:v>Set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52</c:v>
                </c:pt>
                <c:pt idx="2">
                  <c:v>60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4A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6DF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4A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Previsto</c:v>
                </c:pt>
              </c:strCache>
            </c:strRef>
          </c:tx>
          <c:spPr>
            <a:solidFill>
              <a:srgbClr val="B89BE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Receita</c:v>
                  </c:pt>
                  <c:pt idx="1">
                    <c:v>Despesa</c:v>
                  </c:pt>
                  <c:pt idx="2">
                    <c:v>Resultado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276</c:v>
                </c:pt>
                <c:pt idx="1">
                  <c:v>229.4</c:v>
                </c:pt>
                <c:pt idx="2">
                  <c:v>46.6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Realizado</c:v>
                </c:pt>
              </c:strCache>
            </c:strRef>
          </c:tx>
          <c:spPr>
            <a:solidFill>
              <a:srgbClr val="3B1F5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Receita</c:v>
                  </c:pt>
                  <c:pt idx="1">
                    <c:v>Despesa</c:v>
                  </c:pt>
                  <c:pt idx="2">
                    <c:v>Resultado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271.5</c:v>
                </c:pt>
                <c:pt idx="1">
                  <c:v>240.6</c:v>
                </c:pt>
                <c:pt idx="2">
                  <c:v>30.9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4A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DF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4A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Valor (R$ mil)</c:v>
                </c:pt>
              </c:strCache>
            </c:strRef>
          </c:tx>
          <c:spPr>
            <a:solidFill>
              <a:srgbClr val="3B1F5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Contato</c:v>
                  </c:pt>
                  <c:pt idx="1">
                    <c:v>Reunião feita</c:v>
                  </c:pt>
                  <c:pt idx="2">
                    <c:v>Proposta enviada</c:v>
                  </c:pt>
                  <c:pt idx="3">
                    <c:v>Negociação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16.3</c:v>
                </c:pt>
                <c:pt idx="1">
                  <c:v>31</c:v>
                </c:pt>
                <c:pt idx="2">
                  <c:v>49.5</c:v>
                </c:pt>
                <c:pt idx="3">
                  <c:v>28.2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4A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6DF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4A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Modelo do Seu Sócio Gestor: troque os textos e mantenha a estrutura. Capa. A frase em itálico é a conclusão do trimestre em uma linha. Escreva por último.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Resumo. Três números, o melhor, o que bateu meta e o que preocupa. Sem esconder o terceiro.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Gráfico de barras horizontais por objetivo. Clique no gráfico &gt; Editar dados. Barra é a % média dos resultados-chave.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slide por objetivo: gráfico do resultado-chave principal à esquerda, os outros em lista à direita.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cards de número grande e uma leitura curta. A ação vem da planilha Projetos e Prazos.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3. Gráfico de colunas simples. Diga a causa como hipótese e a ação com dono.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4. Mesma estrutura do slide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Financeiro do trimestre. Os três números vêm da aba "O ano, mês a mês" somando os três meses; os desvios por categoria, da aba Realizado somada no trimestre.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Comercial. Funil por etapa em barras horizontais e três leituras.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Riscos. Apresentar antes das decisões mostra que você pensou no que pode dar errado. Use o prompt Produzir 20.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Metas do próximo trimestre com dono. Copie da planilha; não invente meta na hora.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Fechamento: só decisões, com valor e prazo. Peça o sim ou o não antes de encerrar.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B1F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22960"/>
            <a:ext cx="384048" cy="128016"/>
          </a:xfrm>
          <a:prstGeom prst="roundRect">
            <a:avLst>
              <a:gd name="adj" fmla="val 42857"/>
            </a:avLst>
          </a:prstGeom>
          <a:solidFill>
            <a:srgbClr val="B89BE0"/>
          </a:solidFill>
          <a:ln w="12700">
            <a:solidFill>
              <a:srgbClr val="B89B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58368"/>
            <a:ext cx="384048" cy="128016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493776"/>
            <a:ext cx="384048" cy="128016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859536"/>
            <a:ext cx="118872" cy="118872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7373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do 3º trimestre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Prisma Comunicação · reunião de diretoria · 6 de outubro de 2026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uma frase: receita recorrente cresceu 52% e a meta de contratos foi batida; entrega no prazo e retrabalho ficaram para trás.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7914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A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IA no Trabalho · modelo v1.0 · set/2026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229600" y="4818888"/>
            <a:ext cx="211226" cy="70409"/>
          </a:xfrm>
          <a:prstGeom prst="roundRect">
            <a:avLst>
              <a:gd name="adj" fmla="val 42857"/>
            </a:avLst>
          </a:prstGeom>
          <a:solidFill>
            <a:srgbClr val="B89BE0"/>
          </a:solidFill>
          <a:ln w="12700">
            <a:solidFill>
              <a:srgbClr val="B89B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79892" y="4728362"/>
            <a:ext cx="211226" cy="70409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0184" y="4637837"/>
            <a:ext cx="211226" cy="70409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541410" y="4839005"/>
            <a:ext cx="65380" cy="6538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trimestre em três números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da planilha Metas do Trimestre e do Relatório Mensal Pronto.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R$ 27,4 mil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231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recorrente mensal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432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R$ 18 mil em julho para R$ 27,4 mil em setembro (meta: R$ 30 mil)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00400" y="155448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83280" y="1691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24231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Propostas enviadas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7432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batida em setembro; conversão de 57% nas fechadas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43600" y="155448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26480" y="1691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de 9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4231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Metas em risco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27432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 no prazo, retrabalho e horas extras: veja os slides 5 a 7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 resultados-chave: 1 atingido, 5 no ritmo ou em atenção, 3 em risco.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7914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B8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IA no Trabalho · modelo v1.0 · set/2026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8229600" y="4818888"/>
            <a:ext cx="211226" cy="70409"/>
          </a:xfrm>
          <a:prstGeom prst="roundRect">
            <a:avLst>
              <a:gd name="adj" fmla="val 42857"/>
            </a:avLst>
          </a:prstGeom>
          <a:solidFill>
            <a:srgbClr val="7A5AA8"/>
          </a:solidFill>
          <a:ln w="12700">
            <a:solidFill>
              <a:srgbClr val="7A5AA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79892" y="4728362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330184" y="4637837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41410" y="4839005"/>
            <a:ext cx="65380" cy="6538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cada objetivo chegou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Progresso médio por objetivo contra 100% do trimestre. Fonte: Metas do Trimestre, aba Painel.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54864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17920" y="1554480"/>
            <a:ext cx="2560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Receita: quase lá; falta um contrato mensal.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e retrabalho: o gargalo é o mesmo, aprovação do cliente.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Casa: relatório no dia 5 em dois dos três meses; horas extras ainda em 14 h.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914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B8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IA no Trabalho · modelo v1.0 · set/2026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8229600" y="4818888"/>
            <a:ext cx="211226" cy="70409"/>
          </a:xfrm>
          <a:prstGeom prst="roundRect">
            <a:avLst>
              <a:gd name="adj" fmla="val 42857"/>
            </a:avLst>
          </a:prstGeom>
          <a:solidFill>
            <a:srgbClr val="7A5AA8"/>
          </a:solidFill>
          <a:ln w="12700">
            <a:solidFill>
              <a:srgbClr val="7A5AA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79892" y="4728362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330184" y="4637837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41410" y="4839005"/>
            <a:ext cx="65380" cy="6538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recorrente subiu de R$ 18 mil para R$ 27,4 mil por mês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1 · Crescer a receita recorrente · 3 resultados-chave.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49377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0" y="1554480"/>
            <a:ext cx="3108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Resultados-chave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de 3 contratos mensais novos (Clínica Bem-Estar e Café Central).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propostas enviadas: meta batida.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R$ 27,4 mil de R$ 30 mil: 78% do caminho.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trimestre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Fechar o terceiro contrato (Escola Nova Era, em negociação).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914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B8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IA no Trabalho · modelo v1.0 · set/2026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8229600" y="4818888"/>
            <a:ext cx="211226" cy="70409"/>
          </a:xfrm>
          <a:prstGeom prst="roundRect">
            <a:avLst>
              <a:gd name="adj" fmla="val 42857"/>
            </a:avLst>
          </a:prstGeom>
          <a:solidFill>
            <a:srgbClr val="7A5AA8"/>
          </a:solidFill>
          <a:ln w="12700">
            <a:solidFill>
              <a:srgbClr val="7A5AA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79892" y="4728362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330184" y="4637837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41410" y="4839005"/>
            <a:ext cx="65380" cy="6538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 no prazo melhorou, mas as etapas atrasadas ainda são 3 por semana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2 · Entregar no prazo.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3931920" cy="1783080"/>
          </a:xfrm>
          <a:prstGeom prst="roundRect">
            <a:avLst>
              <a:gd name="adj" fmla="val 6154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459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82%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77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Projetos entregues na data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60% para 82%; meta 90%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0" y="1508760"/>
            <a:ext cx="3931920" cy="1783080"/>
          </a:xfrm>
          <a:prstGeom prst="roundRect">
            <a:avLst>
              <a:gd name="adj" fmla="val 6154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54880" y="16459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754880" y="2377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atrasadas por semana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26974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 para 3; meta 1 (em risco)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42900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travou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Aprovação do cliente demora 5 a 8 dias nas campanhas.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pessoa concentra 60% das etapas atrasadas (Linha do tempo).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Ação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de aprovação de 3 dias no contrato; redistribuir etapas na semana 1 de outubro.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7914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B8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IA no Trabalho · modelo v1.0 · set/2026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8229600" y="4818888"/>
            <a:ext cx="211226" cy="70409"/>
          </a:xfrm>
          <a:prstGeom prst="roundRect">
            <a:avLst>
              <a:gd name="adj" fmla="val 42857"/>
            </a:avLst>
          </a:prstGeom>
          <a:solidFill>
            <a:srgbClr val="7A5AA8"/>
          </a:solidFill>
          <a:ln w="12700">
            <a:solidFill>
              <a:srgbClr val="7A5AA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79892" y="4728362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30184" y="4637837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41410" y="4839005"/>
            <a:ext cx="65380" cy="6538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Retrabalho: peças aprovadas de primeira subiram para 60%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3 · Reduzir retrabalho.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42062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937760" y="155448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Resultados-chave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Rodadas de revisão por peça: 2,8 (meta 2,0), em risco.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Aprovação de primeira: 60% (meta 65%), no ritmo.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incompleto em 4 dos 6 projetos com mais revisão.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Ação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de briefing obrigatório antes da primeira peça (prompt Estruturar 08).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914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B8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IA no Trabalho · modelo v1.0 · set/2026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8229600" y="4818888"/>
            <a:ext cx="211226" cy="70409"/>
          </a:xfrm>
          <a:prstGeom prst="roundRect">
            <a:avLst>
              <a:gd name="adj" fmla="val 42857"/>
            </a:avLst>
          </a:prstGeom>
          <a:solidFill>
            <a:srgbClr val="7A5AA8"/>
          </a:solidFill>
          <a:ln w="12700">
            <a:solidFill>
              <a:srgbClr val="7A5AA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79892" y="4728362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330184" y="4637837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41410" y="4839005"/>
            <a:ext cx="65380" cy="6538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Organizar a casa: relatório no dia 5 em dois meses; horas extras ainda altas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4 · Organizar a casa.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3931920" cy="1783080"/>
          </a:xfrm>
          <a:prstGeom prst="roundRect">
            <a:avLst>
              <a:gd name="adj" fmla="val 6154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459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de 3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77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Relatórios enviados até o dia 5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3; em setembro saiu dia 7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0" y="1508760"/>
            <a:ext cx="3931920" cy="1783080"/>
          </a:xfrm>
          <a:prstGeom prst="roundRect">
            <a:avLst>
              <a:gd name="adj" fmla="val 6154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54880" y="16459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h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754880" y="2377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Horas extras da equipe no mês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26974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20 h para 14 h; meta 8 h (em risco)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42900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horas extras concentram-se na última semana do mês, junto do fechamento.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Ação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Antecipar o fechamento financeiro para o dia 28 e usar a rotina da planilha Orçamento.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7914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B8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IA no Trabalho · modelo v1.0 · set/2026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8229600" y="4818888"/>
            <a:ext cx="211226" cy="70409"/>
          </a:xfrm>
          <a:prstGeom prst="roundRect">
            <a:avLst>
              <a:gd name="adj" fmla="val 42857"/>
            </a:avLst>
          </a:prstGeom>
          <a:solidFill>
            <a:srgbClr val="7A5AA8"/>
          </a:solidFill>
          <a:ln w="12700">
            <a:solidFill>
              <a:srgbClr val="7A5AA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79892" y="4728362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30184" y="4637837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41410" y="4839005"/>
            <a:ext cx="65380" cy="6538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Financeiro: receita 2% abaixo do previsto e despesa 5% acima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Previsto × Realizado, julho a setembro (R$ mil). Resultado: R$ 30,9 mil contra R$ 46,6 mil previstos.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51206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852160" y="1554480"/>
            <a:ext cx="29260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faltou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Projetos: 3% abaixo do previsto; mensalidades no previsto.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estourou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Freelancers: +23% (campanha do Bistrô).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e mídia: +29% (teste de anúncios).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Softwares: +13% (duas assinaturas novas).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fazer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Congelar assinaturas; mídia só com meta de conversão.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914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B8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IA no Trabalho · modelo v1.0 · set/2026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8229600" y="4818888"/>
            <a:ext cx="211226" cy="70409"/>
          </a:xfrm>
          <a:prstGeom prst="roundRect">
            <a:avLst>
              <a:gd name="adj" fmla="val 42857"/>
            </a:avLst>
          </a:prstGeom>
          <a:solidFill>
            <a:srgbClr val="7A5AA8"/>
          </a:solidFill>
          <a:ln w="12700">
            <a:solidFill>
              <a:srgbClr val="7A5AA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79892" y="4728362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330184" y="4637837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41410" y="4839005"/>
            <a:ext cx="65380" cy="6538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Comercial: R$ 87,5 mil ganhos, R$ 125 mil em aberto, conversão de 57%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Funil de Propostas em 30/09. Previsão ponderada: R$ 55 mil.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457200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303520" y="1554480"/>
            <a:ext cx="34747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ganhamos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Indicação converte 100%; Instagram, 50%; site, ainda zero.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perdemos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Preço (1), concorrente (1), sem resposta (1).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Ação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Retomar 2 propostas paradas (Construtora Vale, Studio Yoga) esta semana.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914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B8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IA no Trabalho · modelo v1.0 · set/2026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8229600" y="4818888"/>
            <a:ext cx="211226" cy="70409"/>
          </a:xfrm>
          <a:prstGeom prst="roundRect">
            <a:avLst>
              <a:gd name="adj" fmla="val 42857"/>
            </a:avLst>
          </a:prstGeom>
          <a:solidFill>
            <a:srgbClr val="7A5AA8"/>
          </a:solidFill>
          <a:ln w="12700">
            <a:solidFill>
              <a:srgbClr val="7A5AA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79892" y="4728362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330184" y="4637837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41410" y="4839005"/>
            <a:ext cx="65380" cy="6538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pode dar errado no próximo trimestre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riscos, a chance de cada um e o que fazemos se acontecer.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642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grande atrasar aprovação de novo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166420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Provável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852160" y="166420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Cláusula de prazo e reunião de aprovação marcada no kickoff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62432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Terceiro contrato mensal não fechar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62432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Possível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52160" y="262432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propostas de reserva em negociação; meta cai para R$ 27 mil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474720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58444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 no limite em novembro (campanhas)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58444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Provável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852160" y="358444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Freela contratado até 15/10; férias só em janeiro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7914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B8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IA no Trabalho · modelo v1.0 · set/2026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8229600" y="4818888"/>
            <a:ext cx="211226" cy="70409"/>
          </a:xfrm>
          <a:prstGeom prst="roundRect">
            <a:avLst>
              <a:gd name="adj" fmla="val 42857"/>
            </a:avLst>
          </a:prstGeom>
          <a:solidFill>
            <a:srgbClr val="7A5AA8"/>
          </a:solidFill>
          <a:ln w="12700">
            <a:solidFill>
              <a:srgbClr val="7A5AA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9892" y="4728362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30184" y="4637837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1410" y="4839005"/>
            <a:ext cx="65380" cy="6538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Metas do 4º trimestre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objetivos, nove resultados-chave. Detalhe na planilha Metas do Trimestre.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3EEFB"/>
          </a:solidFill>
          <a:ln w="9525">
            <a:solidFill>
              <a:srgbClr val="DCD2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8191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Crescer receita recorrente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657600" y="158191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R$ 35 mil/mês · 4 contratos novos · 30 propostas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589520" y="15819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258568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CD2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3317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Entregar no prazo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233172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na data · 1 etapa atrasada/semana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23317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008376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3EEFB"/>
          </a:solidFill>
          <a:ln w="9525">
            <a:solidFill>
              <a:srgbClr val="DCD2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08152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Reduzir retrabalho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308152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rodadas/peça · 70% aprovadas de primeira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589520" y="308152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Carla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58184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CD2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83133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Organizar a casa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383133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dia 5 em 3 de 3 · 8 h extras/mês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589520" y="3831336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7914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B8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IA no Trabalho · modelo v1.0 · set/2026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8229600" y="4818888"/>
            <a:ext cx="211226" cy="70409"/>
          </a:xfrm>
          <a:prstGeom prst="roundRect">
            <a:avLst>
              <a:gd name="adj" fmla="val 42857"/>
            </a:avLst>
          </a:prstGeom>
          <a:solidFill>
            <a:srgbClr val="7A5AA8"/>
          </a:solidFill>
          <a:ln w="12700">
            <a:solidFill>
              <a:srgbClr val="7A5AA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79892" y="4728362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30184" y="4637837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41410" y="4839005"/>
            <a:ext cx="65380" cy="6538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B1F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548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decisões que precisamos hoje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554480"/>
            <a:ext cx="8229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Aprovar a cláusula de prazo de aprovação (3 dias) nos contratos novos.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Aprovar a contratação do freela de motion até 15/10 (R$ 6 mil/mês por 3 meses).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Aprovar o congelamento de assinaturas novas até janeiro.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14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A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IA no Trabalho · modelo v1.0 · set/2026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229600" y="4818888"/>
            <a:ext cx="211226" cy="70409"/>
          </a:xfrm>
          <a:prstGeom prst="roundRect">
            <a:avLst>
              <a:gd name="adj" fmla="val 42857"/>
            </a:avLst>
          </a:prstGeom>
          <a:solidFill>
            <a:srgbClr val="B89BE0"/>
          </a:solidFill>
          <a:ln w="12700">
            <a:solidFill>
              <a:srgbClr val="B89B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9892" y="4728362"/>
            <a:ext cx="211226" cy="70409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30184" y="4637837"/>
            <a:ext cx="211226" cy="70409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41410" y="4839005"/>
            <a:ext cx="65380" cy="6538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Obrigado. Dúvidas e números completos: planilhas Metas, Orçamento e Funil.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Resultado do trimestre · modelo de 12 slides</dc:title>
  <dc:subject>PptxGenJS Presentation</dc:subject>
  <dc:creator>Seu Sócio Gestor</dc:creator>
  <cp:lastModifiedBy>Seu Sócio Gestor</cp:lastModifiedBy>
  <cp:revision>1</cp:revision>
  <dcterms:created xsi:type="dcterms:W3CDTF">2026-09-13T23:24:59Z</dcterms:created>
  <dcterms:modified xsi:type="dcterms:W3CDTF">2026-09-13T23:24:59Z</dcterms:modified>
</cp:coreProperties>
</file>